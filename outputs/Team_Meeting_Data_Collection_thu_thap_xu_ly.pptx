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f4a0a36c84f91" /><Relationship Type="http://schemas.openxmlformats.org/officeDocument/2006/relationships/extended-properties" Target="/docProps/app.xml" Id="R5906137b16284096" /><Relationship Type="http://schemas.openxmlformats.org/officeDocument/2006/relationships/officeDocument" Target="/ppt/presentation.xml" Id="R353d926ee2f7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de76887f14c98"/>
  </p:sldMasterIdLst>
  <p:notesMasterIdLst>
    <p:notesMasterId xmlns:r="http://schemas.openxmlformats.org/officeDocument/2006/relationships" r:id="R3c6f3626e5424f71"/>
  </p:notesMasterIdLst>
  <p:sldIdLst>
    <p:sldId xmlns:r="http://schemas.openxmlformats.org/officeDocument/2006/relationships" id="256" r:id="R600bafcb7aaf48e4"/>
    <p:sldId xmlns:r="http://schemas.openxmlformats.org/officeDocument/2006/relationships" id="257" r:id="R3e266d8c7666464c"/>
    <p:sldId xmlns:r="http://schemas.openxmlformats.org/officeDocument/2006/relationships" id="258" r:id="Red25dd1cd4584bec"/>
    <p:sldId xmlns:r="http://schemas.openxmlformats.org/officeDocument/2006/relationships" id="259" r:id="Rf4718ce55c8d4663"/>
    <p:sldId xmlns:r="http://schemas.openxmlformats.org/officeDocument/2006/relationships" id="260" r:id="R30f2943de3fe40cc"/>
    <p:sldId xmlns:r="http://schemas.openxmlformats.org/officeDocument/2006/relationships" id="261" r:id="Rc5c10c32151f4fdf"/>
    <p:sldId xmlns:r="http://schemas.openxmlformats.org/officeDocument/2006/relationships" id="262" r:id="R1fae7edb3d8a445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bcc2e54474bf2" /><Relationship Type="http://schemas.openxmlformats.org/officeDocument/2006/relationships/slideMaster" Target="/ppt/slideMasters/slideMaster1.xml" Id="R5b5de76887f14c98" /><Relationship Type="http://schemas.openxmlformats.org/officeDocument/2006/relationships/notesMaster" Target="/ppt/notesMasters/notesMaster1.xml" Id="R3c6f3626e5424f71" /><Relationship Type="http://schemas.openxmlformats.org/officeDocument/2006/relationships/presProps" Target="/ppt/presProps.xml" Id="Rf27489dab5264888" /><Relationship Type="http://schemas.openxmlformats.org/officeDocument/2006/relationships/viewProps" Target="/ppt/viewProps.xml" Id="Re56b127ab3f5479c" /><Relationship Type="http://schemas.openxmlformats.org/officeDocument/2006/relationships/tableStyles" Target="/ppt/tableStyles.xml" Id="R15a2f1b0a038410c" /><Relationship Type="http://schemas.openxmlformats.org/officeDocument/2006/relationships/slide" Target="/ppt/slides/slide1.xml" Id="R600bafcb7aaf48e4" /><Relationship Type="http://schemas.openxmlformats.org/officeDocument/2006/relationships/slide" Target="/ppt/slides/slide2.xml" Id="R3e266d8c7666464c" /><Relationship Type="http://schemas.openxmlformats.org/officeDocument/2006/relationships/slide" Target="/ppt/slides/slide3.xml" Id="Red25dd1cd4584bec" /><Relationship Type="http://schemas.openxmlformats.org/officeDocument/2006/relationships/slide" Target="/ppt/slides/slide4.xml" Id="Rf4718ce55c8d4663" /><Relationship Type="http://schemas.openxmlformats.org/officeDocument/2006/relationships/slide" Target="/ppt/slides/slide5.xml" Id="R30f2943de3fe40cc" /><Relationship Type="http://schemas.openxmlformats.org/officeDocument/2006/relationships/slide" Target="/ppt/slides/slide6.xml" Id="Rc5c10c32151f4fdf" /><Relationship Type="http://schemas.openxmlformats.org/officeDocument/2006/relationships/slide" Target="/ppt/slides/slide7.xml" Id="R1fae7edb3d8a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c0920d68b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0db79ec914b35" /><Relationship Type="http://schemas.openxmlformats.org/officeDocument/2006/relationships/notesMaster" Target="/ppt/notesMasters/notesMaster1.xml" Id="R36c3691686f1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6356ea97a94a0d" /><Relationship Type="http://schemas.openxmlformats.org/officeDocument/2006/relationships/notesMaster" Target="/ppt/notesMasters/notesMaster1.xml" Id="Rdb40e5205626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4f4808d0a2413b" /><Relationship Type="http://schemas.openxmlformats.org/officeDocument/2006/relationships/notesMaster" Target="/ppt/notesMasters/notesMaster1.xml" Id="Rbedfdaabea2845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aa8119a48142d5" /><Relationship Type="http://schemas.openxmlformats.org/officeDocument/2006/relationships/notesMaster" Target="/ppt/notesMasters/notesMaster1.xml" Id="Rbe1a386c5327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1e18a2d9c4532" /><Relationship Type="http://schemas.openxmlformats.org/officeDocument/2006/relationships/notesMaster" Target="/ppt/notesMasters/notesMaster1.xml" Id="R3d151db7796a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b1907c7bf41bc" /><Relationship Type="http://schemas.openxmlformats.org/officeDocument/2006/relationships/notesMaster" Target="/ppt/notesMasters/notesMaster1.xml" Id="R82e8d8dfed32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de3e00cebe4373" /><Relationship Type="http://schemas.openxmlformats.org/officeDocument/2006/relationships/notesMaster" Target="/ppt/notesMasters/notesMaster1.xml" Id="R15b10347a6ab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88951919844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dd195ec4744aa" /><Relationship Type="http://schemas.openxmlformats.org/officeDocument/2006/relationships/slideLayout" Target="/ppt/slideLayouts/slideLayout1.xml" Id="Re5253a03c745436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53a03c745436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149e6e80f4706" /><Relationship Type="http://schemas.openxmlformats.org/officeDocument/2006/relationships/notesSlide" Target="/ppt/notesSlides/notesSlide1.xml" Id="Rc4be976667b845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b3bb74d2e4d94" /><Relationship Type="http://schemas.openxmlformats.org/officeDocument/2006/relationships/notesSlide" Target="/ppt/notesSlides/notesSlide2.xml" Id="R6c0564e264a4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f39e3cf0c43be" /><Relationship Type="http://schemas.openxmlformats.org/officeDocument/2006/relationships/notesSlide" Target="/ppt/notesSlides/notesSlide3.xml" Id="Re0c7e16ac496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d84299fd45a0" /><Relationship Type="http://schemas.openxmlformats.org/officeDocument/2006/relationships/notesSlide" Target="/ppt/notesSlides/notesSlide4.xml" Id="R2544146a82934c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be47eafff4a8e" /><Relationship Type="http://schemas.openxmlformats.org/officeDocument/2006/relationships/notesSlide" Target="/ppt/notesSlides/notesSlide5.xml" Id="R4162f35566d243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5a4bd6bd14945" /><Relationship Type="http://schemas.openxmlformats.org/officeDocument/2006/relationships/notesSlide" Target="/ppt/notesSlides/notesSlide6.xml" Id="R0b66d4c06f91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498ce8a1a4c5d" /><Relationship Type="http://schemas.openxmlformats.org/officeDocument/2006/relationships/notesSlide" Target="/ppt/notesSlides/notesSlide7.xml" Id="R9e31816a2040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01F02-688F-43C7-B585-997DA1D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Họp nhóm: Thu thập dữ liệu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B41EA2-7674-46AA-A152-B2B91540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FE3F1"/>
                </a:solidFill>
                <a:latin typeface="Calibri"/>
                <a:ea typeface="Calibri"/>
                <a:cs typeface="Calibri"/>
              </a:rPr>
              <a:t>Các vấn đề đã thảo luận và thống nhất của nhóm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E00C84-5EA2-45C1-A30B-156F4E2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FBFD6"/>
                </a:solidFill>
                <a:latin typeface="Calibri"/>
                <a:ea typeface="Calibri"/>
                <a:cs typeface="Calibri"/>
              </a:rPr>
              <a:t>Knowledge Distillation cho phân loại rác canteen trên thiết bị biên, theo kế hoạch MASTER v9.5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68525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6484A3-E90C-47A7-9D2E-70A37DF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8C0264-7D0A-4D0B-8B37-03974887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Mục tiêu dữ liệu: 3 nhóm quyết định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3203F6A-E684-4FEE-B61C-61C3E69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A69167-E426-4330-8764-362DEF9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B91E30-31CF-4F50-814B-12B8F73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Hữu cơ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7AC44C-901A-4DB7-8FFE-AF56D6E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Thức ăn thừa, vỏ hoa quả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976475-F6B6-4A39-9890-6B18743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94A676-82B1-43F5-81C9-07E0245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Tái chế khô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89BE88-21F5-412F-AC8F-B2CFD044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Chai nhựa sạch, lon nhôm, hộp giấy sạch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C7366F-60BD-44F2-98AD-18AA30F8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89EFA13-ADD1-466A-B946-F2ED247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Còn lại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35AF30-E86E-44CE-9FD9-373C317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Hộp xốp bẩn, túi nilon dính dầu, giấy ăn bẩn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9A06CA-B409-441B-BD22-816EBEB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8046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Phân loại theo quyết định bỏ rác thực tế tại canteen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Cần 2 nguồn dữ liệu: ảnh công khai để huấn luyện và ảnh canteen thật để kiểm tra miền triển khai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764076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620D85-2579-4E8C-82D5-1B51802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4D2F3C-3DA4-45AD-B66B-7B644E8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Nguồn dữ liệu và thiết kế nhãn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6C8DBB-A795-4F88-BBB9-CE06E09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4C747E-C304-49CA-86D2-24ED8BB2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Hiện trạng: đã có 15.000 ảnh công khai, đã map nhãn và chia Train/Dev cố định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Nguồn công khai: Kaggle Recyclable and Household Waste 30 lớp, hoặc TrashBusters làm phương án thay thế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Xử lý: lọc trùng, tạo label_map.csv, gộp 30 lớp mịn về 3 nhóm quyết định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Chia dữ liệu: 12.750 ảnh Train và 2.250 ảnh Dev/Holdout, tách theo lớp và domain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Dữ liệu canteen thật: chưa thu thập xong, đang chuẩn bị quy trình chụp và gán nhãn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105565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D04D7-9F73-412D-8370-0D6217B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84552D-07F0-416A-B404-FA50AED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Quy ước nhãn và kiểm định chất lượng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2FC457-C103-474F-A131-1CECDB7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64BAE4-8289-4D1F-B05F-26157CD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35FB3F-099E-4D43-93B3-12EFD7B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κ ≥ 0,70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409611-5335-4F1B-928F-3A7A3E7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Cohen's kappa giữa 2 người gán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9B9FCE-5B0E-4AEA-9401-BCF5E59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F32E80-F14A-4DF0-8E71-5F0B62D7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100 ảnh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3475AA-943F-4204-BBD1-218D0239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Gán thử độc lập ở tuần 1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4AAD0-F239-4EFC-A2A8-AFE3FE9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B447FB-BE20-4F97-8EE9-6268C183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Ảnh mơ hồ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FD63BE-9560-40E8-8E66-7B0E53B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Gắn cờ ảnh khó và báo cáo riêng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4C2A70-22B7-4845-BD0C-6719C696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8046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Trước khi chụp: viết docs/label_guide.md, quy định rõ ca ranh giới như ly nhựa dính trà sữa hoặc hộp xốp dính dầu thuộc nhóm "Còn lại"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Khi gán nhãn: 2 người gán độc lập 100 ảnh thử, yêu cầu Cohen's kappa &gt;= 0,70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Sau khi gán: ảnh mơ hồ được gắn cờ riêng và không dùng để tinh chỉnh mô hình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51520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270E33-2EAC-4803-A944-11F0D7F5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36ADE8-95D3-4305-BDB2-F352BBD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Thu thập ảnh canteen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240F6F-D147-4BB0-97CC-B8F83CF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8A4668F-38C0-42E2-AB9A-8491430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2E89FC4-E413-4EE9-B57D-7650388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200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AE6900-685D-435E-8431-CD60D55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Test canteen, khoảng 600 ảnh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DFC8EE6-A3C9-42B4-BBEB-23197AD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B767A6-4677-4DD7-93DE-23F4A74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100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C02823-F3D8-403F-BEEB-4A160A4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pool few-shot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3C9CBD-14B5-48C3-861B-A115736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B3EA33-1690-4A84-BD95-2B248F17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50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8C357D-45CC-4147-BEF9-2878A586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Validation canteen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644E361-1783-49EF-B3AD-940A3AD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80467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Thu thập canteen: chụp top-down trên khay hoặc bàn đồng nhất, một vật chính mỗi ảnh, thay đổi có kiểm soát về ánh sáng, góc xoay và độ bẩn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Metadata: ghi cluster_id gồm ngày chụp, ca ăn và vật phẩm cụ thể để tránh rò rỉ dữ liệu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Xử lý sau thu thập: chia Val/Test/Few-shot theo cụm hoặc ngày, không chia ngẫu nhiên từng ảnh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642768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C347DA6-88A8-483C-90DB-1D9ACB9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93C147-04E8-40FF-97B4-3C1EDD9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Rủi ro đã thống nhất và cách xử lý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8AF8D8-E8E4-4E35-8381-EDFA5A7A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18D1EB-95D5-4AEB-ADC6-80B8ACC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Rủi ro chính: hiện chưa có dữ liệu canteen thật nên kết quả hiện tại mới dựa trên dữ liệu công khai đã xử lý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canteen từ chối cho chụp: xin phép ngay tuần 1, dự phòng bằng cách mua đồ ăn canteen về phòng thực nghiệm và dựng góc chụp mô phỏng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Test canteen quá nhỏ: dùng Cluster Bootstrap theo cluster_id và báo cáo effect size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trễ ở mốc Go/No-go tuần 5: loại M7 và Canteen-C, dồn thời gian cho Tier B, few-shot và đo trên thiết bị biên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852187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774E19-0EAB-45AA-A7A2-8DE0879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19E7AE-853D-45E4-828C-FDCD47F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Tiến độ và việc cần làm tiếp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E80D89-0257-4D56-B908-E7E89776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CDC2DE-D428-45E4-94F8-51B4958C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Đã làm: xử lý dữ liệu công khai 15.000 ảnh, tạo label_map.csv và chia Train/Dev cố định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1-2: xin phép canteen, viết label_guide.md, chụp thử khoảng 100 ảnh và kiểm tra kappa &gt;= 0,70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3-4: thu thập pool ảnh cốt lõi và Test canteen, ghi metadata theo cluster_id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5 Go/No-go: đóng băng Test canteen &gt;= 600 ảnh, kappa &gt;= 0,70, khóa pool ảnh cốt lõi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2770297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2026-10-04T14:09:31.1460000Z</dcterms:created>
  <dcterms:modified xsi:type="dcterms:W3CDTF">2026-10-04T14:09:31.1460000Z</dcterms:modified>
</coreProperties>
</file>