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46018157424f56" /><Relationship Type="http://schemas.openxmlformats.org/officeDocument/2006/relationships/extended-properties" Target="/docProps/app.xml" Id="Ra056d11abbba4c6a" /><Relationship Type="http://schemas.openxmlformats.org/officeDocument/2006/relationships/officeDocument" Target="/ppt/presentation.xml" Id="Rbe6e38718f6648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41f602654d4122"/>
  </p:sldMasterIdLst>
  <p:notesMasterIdLst>
    <p:notesMasterId xmlns:r="http://schemas.openxmlformats.org/officeDocument/2006/relationships" r:id="R49af21463d474b9b"/>
  </p:notesMasterIdLst>
  <p:sldIdLst>
    <p:sldId xmlns:r="http://schemas.openxmlformats.org/officeDocument/2006/relationships" id="256" r:id="R75ee585d93d24c3d"/>
    <p:sldId xmlns:r="http://schemas.openxmlformats.org/officeDocument/2006/relationships" id="257" r:id="Rd23a5841f5cb4fcf"/>
    <p:sldId xmlns:r="http://schemas.openxmlformats.org/officeDocument/2006/relationships" id="258" r:id="Rbdbe73642ae44eb7"/>
    <p:sldId xmlns:r="http://schemas.openxmlformats.org/officeDocument/2006/relationships" id="259" r:id="R8acfb1489094442c"/>
    <p:sldId xmlns:r="http://schemas.openxmlformats.org/officeDocument/2006/relationships" id="260" r:id="R95000c1a55004ea5"/>
    <p:sldId xmlns:r="http://schemas.openxmlformats.org/officeDocument/2006/relationships" id="261" r:id="Re15f6d63ef9f41d3"/>
    <p:sldId xmlns:r="http://schemas.openxmlformats.org/officeDocument/2006/relationships" id="262" r:id="R00944db06c3444ee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d8cefc2c20460a" /><Relationship Type="http://schemas.openxmlformats.org/officeDocument/2006/relationships/slideMaster" Target="/ppt/slideMasters/slideMaster1.xml" Id="R6741f602654d4122" /><Relationship Type="http://schemas.openxmlformats.org/officeDocument/2006/relationships/notesMaster" Target="/ppt/notesMasters/notesMaster1.xml" Id="R49af21463d474b9b" /><Relationship Type="http://schemas.openxmlformats.org/officeDocument/2006/relationships/presProps" Target="/ppt/presProps.xml" Id="R62189e041f244a75" /><Relationship Type="http://schemas.openxmlformats.org/officeDocument/2006/relationships/viewProps" Target="/ppt/viewProps.xml" Id="R9e6971a5f1f447ed" /><Relationship Type="http://schemas.openxmlformats.org/officeDocument/2006/relationships/tableStyles" Target="/ppt/tableStyles.xml" Id="R256fb939521a43bb" /><Relationship Type="http://schemas.openxmlformats.org/officeDocument/2006/relationships/slide" Target="/ppt/slides/slide1.xml" Id="R75ee585d93d24c3d" /><Relationship Type="http://schemas.openxmlformats.org/officeDocument/2006/relationships/slide" Target="/ppt/slides/slide2.xml" Id="Rd23a5841f5cb4fcf" /><Relationship Type="http://schemas.openxmlformats.org/officeDocument/2006/relationships/slide" Target="/ppt/slides/slide3.xml" Id="Rbdbe73642ae44eb7" /><Relationship Type="http://schemas.openxmlformats.org/officeDocument/2006/relationships/slide" Target="/ppt/slides/slide4.xml" Id="R8acfb1489094442c" /><Relationship Type="http://schemas.openxmlformats.org/officeDocument/2006/relationships/slide" Target="/ppt/slides/slide5.xml" Id="R95000c1a55004ea5" /><Relationship Type="http://schemas.openxmlformats.org/officeDocument/2006/relationships/slide" Target="/ppt/slides/slide6.xml" Id="Re15f6d63ef9f41d3" /><Relationship Type="http://schemas.openxmlformats.org/officeDocument/2006/relationships/slide" Target="/ppt/slides/slide7.xml" Id="R00944db06c3444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425019d55342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ed76d66d1f45fa" /><Relationship Type="http://schemas.openxmlformats.org/officeDocument/2006/relationships/notesMaster" Target="/ppt/notesMasters/notesMaster1.xml" Id="Rc568ff36e82e45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61ab1b9de84b9f" /><Relationship Type="http://schemas.openxmlformats.org/officeDocument/2006/relationships/notesMaster" Target="/ppt/notesMasters/notesMaster1.xml" Id="R2ab39ace095e4a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2bc30b778d482f" /><Relationship Type="http://schemas.openxmlformats.org/officeDocument/2006/relationships/notesMaster" Target="/ppt/notesMasters/notesMaster1.xml" Id="R2e3a8d39ff004c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7a5467bde24b83" /><Relationship Type="http://schemas.openxmlformats.org/officeDocument/2006/relationships/notesMaster" Target="/ppt/notesMasters/notesMaster1.xml" Id="R146d3afb618742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d6d9e6f4cb4514" /><Relationship Type="http://schemas.openxmlformats.org/officeDocument/2006/relationships/notesMaster" Target="/ppt/notesMasters/notesMaster1.xml" Id="Rc901b28a4f424a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2e3f0e74d34fdf" /><Relationship Type="http://schemas.openxmlformats.org/officeDocument/2006/relationships/notesMaster" Target="/ppt/notesMasters/notesMaster1.xml" Id="Rbb9362872ee645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0dfbef69ce487f" /><Relationship Type="http://schemas.openxmlformats.org/officeDocument/2006/relationships/notesMaster" Target="/ppt/notesMasters/notesMaster1.xml" Id="Rbf7666969ec845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d945528a54a4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05f2d54a834b32" /><Relationship Type="http://schemas.openxmlformats.org/officeDocument/2006/relationships/slideLayout" Target="/ppt/slideLayouts/slideLayout1.xml" Id="Rca7c661ab1364c0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7c661ab1364c0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4e52db1b94527" /><Relationship Type="http://schemas.openxmlformats.org/officeDocument/2006/relationships/notesSlide" Target="/ppt/notesSlides/notesSlide1.xml" Id="R99507f2f17c348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a2e4521814234" /><Relationship Type="http://schemas.openxmlformats.org/officeDocument/2006/relationships/notesSlide" Target="/ppt/notesSlides/notesSlide2.xml" Id="R20041a23c7b341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ef9405fe34d21" /><Relationship Type="http://schemas.openxmlformats.org/officeDocument/2006/relationships/notesSlide" Target="/ppt/notesSlides/notesSlide3.xml" Id="R96fe939acfc14f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2fba91c9946dd" /><Relationship Type="http://schemas.openxmlformats.org/officeDocument/2006/relationships/notesSlide" Target="/ppt/notesSlides/notesSlide4.xml" Id="Rc5b2971383ef4b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c4a1e9a284982" /><Relationship Type="http://schemas.openxmlformats.org/officeDocument/2006/relationships/notesSlide" Target="/ppt/notesSlides/notesSlide5.xml" Id="R7fbe4ea1127542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7cb384f604151" /><Relationship Type="http://schemas.openxmlformats.org/officeDocument/2006/relationships/notesSlide" Target="/ppt/notesSlides/notesSlide6.xml" Id="Ra82db087385f4f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885e25d614d73" /><Relationship Type="http://schemas.openxmlformats.org/officeDocument/2006/relationships/notesSlide" Target="/ppt/notesSlides/notesSlide7.xml" Id="R0c40943d222c4f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C201F02-688F-43C7-B585-997DA1D6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7863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Họp nhóm: Thu thập dữ liệu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7B41EA2-7674-46AA-A152-B2B91540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68880"/>
            <a:ext cx="7863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CFE3F1"/>
                </a:solidFill>
                <a:latin typeface="Calibri"/>
                <a:ea typeface="Calibri"/>
                <a:cs typeface="Calibri"/>
              </a:rPr>
              <a:t>Các vấn đề đã thảo luận và thống nhất của nhóm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8E00C84-5EA2-45C1-A30B-156F4E2E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FBFD6"/>
                </a:solidFill>
                <a:latin typeface="Calibri"/>
                <a:ea typeface="Calibri"/>
                <a:cs typeface="Calibri"/>
              </a:rPr>
              <a:t>Knowledge Distillation cho phân loại rác canteen trên thiết bị biên, theo kế hoạch MASTER v9.5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8685252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96484A3-E90C-47A7-9D2E-70A37DFB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E8C0264-7D0A-4D0B-8B37-03974887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8046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Mục tiêu dữ liệu: 3 nhóm quyết định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3203F6A-E684-4FEE-B61C-61C3E691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548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899A6"/>
                </a:solidFill>
                <a:latin typeface="Calibri"/>
                <a:ea typeface="Calibri"/>
                <a:cs typeface="Calibri"/>
              </a:rPr>
              <a:t>2</a:t>
            </a:r>
            <a:endParaRPr sz="11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DA69167-E426-4330-8764-362DEF98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2560320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2700">
            <a:solidFill>
              <a:srgbClr val="EAF1F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3B91E30-31CF-4F50-814B-12B8F732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25603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Hữu cơ</a:t>
            </a:r>
            <a:endParaRPr sz="3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E7AC44C-901A-4DB7-8FFE-AF56D6E4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5708"/>
            <a:ext cx="228600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Thức ăn thừa, vỏ hoa quả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D976475-F6B6-4A39-9890-6B18743F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280160"/>
            <a:ext cx="2560320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2700">
            <a:solidFill>
              <a:srgbClr val="EAF1F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494A676-82B1-43F5-81C9-07E02453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417320"/>
            <a:ext cx="25603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Tái chế khô</a:t>
            </a:r>
            <a:endParaRPr sz="3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489BE88-21F5-412F-AC8F-B2CFD044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5708"/>
            <a:ext cx="228600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Chai nhựa sạch, lon nhôm, hộp giấy sạch</a:t>
            </a:r>
            <a:endParaRPr sz="13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0C7366F-60BD-44F2-98AD-18AA30F8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280160"/>
            <a:ext cx="2560320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2700">
            <a:solidFill>
              <a:srgbClr val="EAF1F6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89EFA13-ADD1-466A-B946-F2ED2475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17320"/>
            <a:ext cx="25603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Còn lại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B35AF30-E86E-44CE-9FD9-373C317F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35708"/>
            <a:ext cx="228600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Hộp xốp bẩn, túi nilon dính dầu, giấy ăn bẩn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19A06CA-B409-441B-BD22-816EBEB2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80467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Phân loại theo quyết định bỏ rác thực tế tại canteen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Cần 2 nguồn dữ liệu: ảnh công khai để huấn luyện và ảnh canteen thật để kiểm tra miền triển khai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1764076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3620D85-2579-4E8C-82D5-1B518027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64D2F3C-3DA4-45AD-B66B-7B644E8F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8046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Nguồn dữ liệu và thiết kế nhãn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36C8DBB-A795-4F88-BBB9-CE06E093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548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899A6"/>
                </a:solidFill>
                <a:latin typeface="Calibri"/>
                <a:ea typeface="Calibri"/>
                <a:cs typeface="Calibri"/>
              </a:rPr>
              <a:t>3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A4C747E-C304-49CA-86D2-24ED8BB2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80467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Hiện trạng: đã có 15.000 ảnh công khai, đã map nhãn và chia Train/Dev cố định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Nguồn công khai: Kaggle Recyclable and Household Waste 30 lớp, hoặc TrashBusters làm phương án thay thế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Xử lý: tạo label_map.csv, gộp 30 lớp mịn về 3 nhóm quyết định, kiểm tra rò rỉ Train/Dev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Chia dữ liệu: 12.750 ảnh Train và 2.250 ảnh Dev/Holdout, tách theo lớp và domain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Dữ liệu canteen thật: chưa thu thập xong, đang chuẩn bị quy trình chụp và gán nhãn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1105565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8D04D7-9F73-412D-8370-0D6217BB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884552D-07F0-416A-B404-FA50AED0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8046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Quy ước nhãn và kiểm định chất lượng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22FC457-C103-474F-A131-1CECDB79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548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899A6"/>
                </a:solidFill>
                <a:latin typeface="Calibri"/>
                <a:ea typeface="Calibri"/>
                <a:cs typeface="Calibri"/>
              </a:rPr>
              <a:t>4</a:t>
            </a:r>
            <a:endParaRPr sz="11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264BAE4-8289-4D1F-B05F-26157CDB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2560320" cy="155448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2700">
            <a:solidFill>
              <a:srgbClr val="EAF1F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35FB3F-099E-4D43-93B3-12EFD7BB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2560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κ ≥ 0,70</a:t>
            </a:r>
            <a:endParaRPr sz="3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E409611-5335-4F1B-928F-3A7A3E72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5124"/>
            <a:ext cx="228600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Cohen's kappa giữa 2 người gán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49B9FCE-5B0E-4AEA-9401-BCF5E59E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280160"/>
            <a:ext cx="2560320" cy="155448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2700">
            <a:solidFill>
              <a:srgbClr val="EAF1F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2F32E80-F14A-4DF0-8E71-5F0B62D7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417320"/>
            <a:ext cx="2560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100 ảnh</a:t>
            </a:r>
            <a:endParaRPr sz="3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53475AA-943F-4204-BBD1-218D0239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35124"/>
            <a:ext cx="228600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Gán thử độc lập ở tuần 1</a:t>
            </a:r>
            <a:endParaRPr sz="13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6E4AAD0-F239-4EFC-A2A8-AFE3FE91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280160"/>
            <a:ext cx="2560320" cy="155448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2700">
            <a:solidFill>
              <a:srgbClr val="EAF1F6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EB447FB-BE20-4F97-8EE9-6268C183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17320"/>
            <a:ext cx="2560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Ảnh mơ hồ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2FD63BE-9560-40E8-8E66-7B0E53BE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5124"/>
            <a:ext cx="228600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Gắn cờ ảnh khó và báo cáo riêng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44C2A70-22B7-4845-BD0C-6719C696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08960"/>
            <a:ext cx="80467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Trước khi chụp: viết docs/label_guide.md, quy định rõ ca ranh giới như ly nhựa dính trà sữa hoặc hộp xốp dính dầu thuộc nhóm "Còn lại"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Khi gán nhãn: 2 người gán độc lập 100 ảnh thử, yêu cầu Cohen's kappa &gt;= 0,70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Sau khi gán: ảnh mơ hồ được gắn cờ riêng và không dùng để tinh chỉnh mô hình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515200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270E33-2EAC-4803-A944-11F0D7F5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936ADE8-95D3-4305-BDB2-F352BBD1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8046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Thu thập ảnh canteen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240F6F-D147-4BB0-97CC-B8F83CF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548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899A6"/>
                </a:solidFill>
                <a:latin typeface="Calibri"/>
                <a:ea typeface="Calibri"/>
                <a:cs typeface="Calibri"/>
              </a:rPr>
              <a:t>5</a:t>
            </a:r>
            <a:endParaRPr sz="11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8A4668F-38C0-42E2-AB9A-8491430F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256032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2700">
            <a:solidFill>
              <a:srgbClr val="EAF1F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2E89FC4-E413-4EE9-B57D-76503887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25603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≥ 200</a:t>
            </a:r>
            <a:endParaRPr sz="3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8AE6900-685D-435E-8431-CD60D552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4540"/>
            <a:ext cx="2286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ảnh/nhóm cho Test canteen, khoảng 600 ảnh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DFC8EE6-A3C9-42B4-BBEB-23197AD3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280160"/>
            <a:ext cx="256032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2700">
            <a:solidFill>
              <a:srgbClr val="EAF1F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B767A6-4677-4DD7-93DE-23F4A74F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417320"/>
            <a:ext cx="25603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≥ 100</a:t>
            </a:r>
            <a:endParaRPr sz="3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3C02823-F3D8-403F-BEEB-4A160A41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4540"/>
            <a:ext cx="2286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ảnh/nhóm cho pool few-shot</a:t>
            </a:r>
            <a:endParaRPr sz="13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93C9CBD-14B5-48C3-861B-A1157369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280160"/>
            <a:ext cx="256032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12700">
            <a:solidFill>
              <a:srgbClr val="EAF1F6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9B3EA33-1690-4A84-BD95-2B248F17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17320"/>
            <a:ext cx="25603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≥ 50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28C357D-45CC-4147-BEF9-2878A586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4540"/>
            <a:ext cx="2286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ảnh/nhóm cho Validation canteen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644E361-1783-49EF-B3AD-940A3AD3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80467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Thu thập canteen: chụp top-down trên khay hoặc bàn đồng nhất, một vật chính mỗi ảnh, thay đổi có kiểm soát về ánh sáng, góc xoay và độ bẩn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Metadata: ghi cluster_id gồm ngày chụp, ca ăn và vật phẩm cụ thể để tránh rò rỉ dữ liệu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Xử lý sau thu thập: chia Val/Test/Few-shot theo cụm hoặc ngày, không chia ngẫu nhiên từng ảnh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16427684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C347DA6-88A8-483C-90DB-1D9ACB9E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293C147-04E8-40FF-97B4-3C1EDD99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8046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Rủi ro đã thống nhất và cách xử lý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B8AF8D8-E8E4-4E35-8381-EDFA5A7A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548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899A6"/>
                </a:solidFill>
                <a:latin typeface="Calibri"/>
                <a:ea typeface="Calibri"/>
                <a:cs typeface="Calibri"/>
              </a:rPr>
              <a:t>6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A18D1EB-95D5-4AEB-ADC6-80B8ACC0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80467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Rủi ro chính: hiện chưa có dữ liệu canteen thật nên kết quả hiện tại mới dựa trên dữ liệu công khai đã xử lý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Nếu canteen từ chối cho chụp: xin phép ngay tuần 1, dự phòng bằng cách mua đồ ăn canteen về phòng thực nghiệm và dựng góc chụp mô phỏng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Nếu Test canteen quá nhỏ: dùng Cluster Bootstrap theo cluster_id và báo cáo effect size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Nếu trễ ở mốc Go/No-go tuần 5: loại M7 và Canteen-C, dồn thời gian cho Tier B, few-shot và đo trên thiết bị biên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18521876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3774E19-0EAB-45AA-A7A2-8DE0879D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319E7AE-853D-45E4-828C-FDCD47FE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8046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F3A5F"/>
                </a:solidFill>
                <a:latin typeface="Calibri"/>
                <a:ea typeface="Calibri"/>
                <a:cs typeface="Calibri"/>
              </a:rPr>
              <a:t>Tiến độ và việc cần làm tiếp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E80D89-0257-4D56-B908-E7E89776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5488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899A6"/>
                </a:solidFill>
                <a:latin typeface="Calibri"/>
                <a:ea typeface="Calibri"/>
                <a:cs typeface="Calibri"/>
              </a:rPr>
              <a:t>7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ECDC2DE-D428-45E4-94F8-51B4958C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80467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Đã làm: xử lý dữ liệu công khai 15.000 ảnh, tạo label_map.csv và chia Train/Dev cố định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Tuần 1-2: xin phép canteen, viết label_guide.md, chụp thử khoảng 100 ảnh và kiểm tra kappa &gt;= 0,70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Tuần 3-4: thu thập pool ảnh cốt lõi và Test canteen, ghi metadata theo cluster_id</a:t>
            </a:r>
            <a:endParaRPr sz="17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>
                <a:solidFill>
                  <a:srgbClr val="222B33"/>
                </a:solidFill>
                <a:latin typeface="Calibri"/>
                <a:ea typeface="Calibri"/>
                <a:cs typeface="Calibri"/>
              </a:rPr>
              <a:t>Tuần 5 Go/No-go: đóng băng Test canteen &gt;= 600 ảnh, kappa &gt;= 0,70, khóa pool ảnh cốt lõi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127702976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2026-10-04T14:10:43.7890000Z</dcterms:created>
  <dcterms:modified xsi:type="dcterms:W3CDTF">2026-10-04T14:10:43.7890000Z</dcterms:modified>
</coreProperties>
</file>