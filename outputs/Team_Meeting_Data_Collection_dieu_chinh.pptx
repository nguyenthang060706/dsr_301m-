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3d06a987314218" /><Relationship Type="http://schemas.openxmlformats.org/officeDocument/2006/relationships/extended-properties" Target="/docProps/app.xml" Id="R13b16a21f682447c" /><Relationship Type="http://schemas.openxmlformats.org/officeDocument/2006/relationships/officeDocument" Target="/ppt/presentation.xml" Id="R07d57fef13cb4e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898ca2e51c41b3"/>
  </p:sldMasterIdLst>
  <p:notesMasterIdLst>
    <p:notesMasterId xmlns:r="http://schemas.openxmlformats.org/officeDocument/2006/relationships" r:id="R71f54399c8a3448b"/>
  </p:notesMasterIdLst>
  <p:sldIdLst>
    <p:sldId xmlns:r="http://schemas.openxmlformats.org/officeDocument/2006/relationships" id="256" r:id="R3f73cd9353624e42"/>
    <p:sldId xmlns:r="http://schemas.openxmlformats.org/officeDocument/2006/relationships" id="257" r:id="R36896502c0be42ae"/>
    <p:sldId xmlns:r="http://schemas.openxmlformats.org/officeDocument/2006/relationships" id="258" r:id="R5d25182b872d4b8b"/>
    <p:sldId xmlns:r="http://schemas.openxmlformats.org/officeDocument/2006/relationships" id="259" r:id="Rf9cdc818edc946df"/>
    <p:sldId xmlns:r="http://schemas.openxmlformats.org/officeDocument/2006/relationships" id="260" r:id="R0055ed8dd8c54abc"/>
    <p:sldId xmlns:r="http://schemas.openxmlformats.org/officeDocument/2006/relationships" id="261" r:id="R11cf1a1c5c504143"/>
    <p:sldId xmlns:r="http://schemas.openxmlformats.org/officeDocument/2006/relationships" id="262" r:id="Raa42647d6af04e2b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53b79696cb4d87" /><Relationship Type="http://schemas.openxmlformats.org/officeDocument/2006/relationships/slideMaster" Target="/ppt/slideMasters/slideMaster1.xml" Id="Re3898ca2e51c41b3" /><Relationship Type="http://schemas.openxmlformats.org/officeDocument/2006/relationships/notesMaster" Target="/ppt/notesMasters/notesMaster1.xml" Id="R71f54399c8a3448b" /><Relationship Type="http://schemas.openxmlformats.org/officeDocument/2006/relationships/presProps" Target="/ppt/presProps.xml" Id="Rfb18cab42b2d478c" /><Relationship Type="http://schemas.openxmlformats.org/officeDocument/2006/relationships/viewProps" Target="/ppt/viewProps.xml" Id="R24cae378ceb842a4" /><Relationship Type="http://schemas.openxmlformats.org/officeDocument/2006/relationships/tableStyles" Target="/ppt/tableStyles.xml" Id="R5f41537b71504157" /><Relationship Type="http://schemas.openxmlformats.org/officeDocument/2006/relationships/slide" Target="/ppt/slides/slide1.xml" Id="R3f73cd9353624e42" /><Relationship Type="http://schemas.openxmlformats.org/officeDocument/2006/relationships/slide" Target="/ppt/slides/slide2.xml" Id="R36896502c0be42ae" /><Relationship Type="http://schemas.openxmlformats.org/officeDocument/2006/relationships/slide" Target="/ppt/slides/slide3.xml" Id="R5d25182b872d4b8b" /><Relationship Type="http://schemas.openxmlformats.org/officeDocument/2006/relationships/slide" Target="/ppt/slides/slide4.xml" Id="Rf9cdc818edc946df" /><Relationship Type="http://schemas.openxmlformats.org/officeDocument/2006/relationships/slide" Target="/ppt/slides/slide5.xml" Id="R0055ed8dd8c54abc" /><Relationship Type="http://schemas.openxmlformats.org/officeDocument/2006/relationships/slide" Target="/ppt/slides/slide6.xml" Id="R11cf1a1c5c504143" /><Relationship Type="http://schemas.openxmlformats.org/officeDocument/2006/relationships/slide" Target="/ppt/slides/slide7.xml" Id="Raa42647d6af04e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a7704437524d3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cb9796535d457c" /><Relationship Type="http://schemas.openxmlformats.org/officeDocument/2006/relationships/notesMaster" Target="/ppt/notesMasters/notesMaster1.xml" Id="R9656ae0310414d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86916051714c92" /><Relationship Type="http://schemas.openxmlformats.org/officeDocument/2006/relationships/notesMaster" Target="/ppt/notesMasters/notesMaster1.xml" Id="R751a8a3cb1e24a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357627fb064f6f" /><Relationship Type="http://schemas.openxmlformats.org/officeDocument/2006/relationships/notesMaster" Target="/ppt/notesMasters/notesMaster1.xml" Id="R202fa85022dc44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5c1cc14f33449b" /><Relationship Type="http://schemas.openxmlformats.org/officeDocument/2006/relationships/notesMaster" Target="/ppt/notesMasters/notesMaster1.xml" Id="Ra8c1140b073d43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7d2ada72094238" /><Relationship Type="http://schemas.openxmlformats.org/officeDocument/2006/relationships/notesMaster" Target="/ppt/notesMasters/notesMaster1.xml" Id="Re78d7bc0f0994d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721445489545c5" /><Relationship Type="http://schemas.openxmlformats.org/officeDocument/2006/relationships/notesMaster" Target="/ppt/notesMasters/notesMaster1.xml" Id="R7492d5abd73c42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be7fb535de34080" /><Relationship Type="http://schemas.openxmlformats.org/officeDocument/2006/relationships/notesMaster" Target="/ppt/notesMasters/notesMaster1.xml" Id="R141b9a14838945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201208c4f5433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c7b14d850a4556" /><Relationship Type="http://schemas.openxmlformats.org/officeDocument/2006/relationships/slideLayout" Target="/ppt/slideLayouts/slideLayout1.xml" Id="R6d15520fc8ee428a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15520fc8ee428a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f1fc4a13604d58" /><Relationship Type="http://schemas.openxmlformats.org/officeDocument/2006/relationships/notesSlide" Target="/ppt/notesSlides/notesSlide1.xml" Id="Ra80b7e484e5a4b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b8af6c8984991" /><Relationship Type="http://schemas.openxmlformats.org/officeDocument/2006/relationships/notesSlide" Target="/ppt/notesSlides/notesSlide2.xml" Id="R112007bfaa444e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df6ea8d72d4042" /><Relationship Type="http://schemas.openxmlformats.org/officeDocument/2006/relationships/notesSlide" Target="/ppt/notesSlides/notesSlide3.xml" Id="R3585d16c850141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1c3ef75eb440f" /><Relationship Type="http://schemas.openxmlformats.org/officeDocument/2006/relationships/notesSlide" Target="/ppt/notesSlides/notesSlide4.xml" Id="Re5a84d5fd1b142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c1fbec8e93456f" /><Relationship Type="http://schemas.openxmlformats.org/officeDocument/2006/relationships/notesSlide" Target="/ppt/notesSlides/notesSlide5.xml" Id="R01bde290fdae4d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542950db98437b" /><Relationship Type="http://schemas.openxmlformats.org/officeDocument/2006/relationships/notesSlide" Target="/ppt/notesSlides/notesSlide6.xml" Id="Rdfea1ced1def4e7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8fff561c7746c6" /><Relationship Type="http://schemas.openxmlformats.org/officeDocument/2006/relationships/notesSlide" Target="/ppt/notesSlides/notesSlide7.xml" Id="R4ba41a9a5b2149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F3A5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C201F02-688F-43C7-B585-997DA1D6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63040"/>
            <a:ext cx="7863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Họp nhóm: Thu thập dữ liệu</a:t>
            </a:r>
            <a:endParaRPr sz="3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B41EA2-7674-46AA-A152-B2B91540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7863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CFE3F1"/>
                </a:solidFill>
                <a:latin typeface="Calibri"/>
                <a:ea typeface="Calibri"/>
                <a:cs typeface="Calibri"/>
              </a:rPr>
              <a:t>Các vấn đề đã thảo luận và thống nhất của nhóm</a:t>
            </a:r>
            <a:endParaRPr sz="2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8E00C84-5EA2-45C1-A30B-156F4E2E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0"/>
            <a:ext cx="7863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FBFD6"/>
                </a:solidFill>
                <a:latin typeface="Calibri"/>
                <a:ea typeface="Calibri"/>
                <a:cs typeface="Calibri"/>
              </a:rPr>
              <a:t>Knowledge Distillation cho phân loại rác canteen trên thiết bị biên, theo kế hoạch MASTER v9.5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8685252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96484A3-E90C-47A7-9D2E-70A37DFB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E8C0264-7D0A-4D0B-8B37-03974887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80467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Mục tiêu dữ liệu: 3 nhóm quyết định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3203F6A-E684-4FEE-B61C-61C3E691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899A6"/>
                </a:solidFill>
                <a:latin typeface="Calibri"/>
                <a:ea typeface="Calibri"/>
                <a:cs typeface="Calibri"/>
              </a:rPr>
              <a:t>2</a:t>
            </a:r>
            <a:endParaRPr sz="11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DA69167-E426-4330-8764-362DEF98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2560320" cy="17373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1F6"/>
          </a:solidFill>
          <a:ln xmlns:a="http://schemas.openxmlformats.org/drawingml/2006/main" w="12700">
            <a:solidFill>
              <a:srgbClr val="EAF1F6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3B91E30-31CF-4F50-814B-12B8F732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25603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Hữu cơ</a:t>
            </a:r>
            <a:endParaRPr sz="3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E7AC44C-901A-4DB7-8FFE-AF56D6E4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5708"/>
            <a:ext cx="2286000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Thức ăn thừa, vỏ hoa quả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D976475-F6B6-4A39-9890-6B18743F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280160"/>
            <a:ext cx="2560320" cy="17373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1F6"/>
          </a:solidFill>
          <a:ln xmlns:a="http://schemas.openxmlformats.org/drawingml/2006/main" w="12700">
            <a:solidFill>
              <a:srgbClr val="EAF1F6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494A676-82B1-43F5-81C9-07E02453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417320"/>
            <a:ext cx="25603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Tái chế khô</a:t>
            </a:r>
            <a:endParaRPr sz="3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489BE88-21F5-412F-AC8F-B2CFD044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35708"/>
            <a:ext cx="2286000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Chai nhựa sạch, lon nhôm, hộp giấy sạch</a:t>
            </a:r>
            <a:endParaRPr sz="13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0C7366F-60BD-44F2-98AD-18AA30F8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280160"/>
            <a:ext cx="2560320" cy="17373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1F6"/>
          </a:solidFill>
          <a:ln xmlns:a="http://schemas.openxmlformats.org/drawingml/2006/main" w="12700">
            <a:solidFill>
              <a:srgbClr val="EAF1F6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89EFA13-ADD1-466A-B946-F2ED2475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417320"/>
            <a:ext cx="25603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Còn lại</a:t>
            </a:r>
            <a:endParaRPr sz="3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B35AF30-E86E-44CE-9FD9-373C317F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35708"/>
            <a:ext cx="2286000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Hộp xốp bẩn, túi nilon dính dầu, giấy ăn bẩn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19A06CA-B409-441B-BD22-816EBEB2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83280"/>
            <a:ext cx="804672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Phân loại theo quyết định bỏ rác thực tế tại canteen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Cần 2 nguồn dữ liệu: ảnh công khai để huấn luyện và ảnh canteen thật để kiểm tra miền triển khai</a:t>
            </a:r>
            <a:endParaRPr sz="1700"/>
          </a:p>
        </p:txBody>
      </p:sp>
    </p:spTree>
    <p:extLst>
      <p:ext uri="{BB962C8B-B14F-4D97-AF65-F5344CB8AC3E}">
        <p14:creationId xmlns:p14="http://schemas.microsoft.com/office/powerpoint/2010/main" val="17640761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3620D85-2579-4E8C-82D5-1B518027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64D2F3C-3DA4-45AD-B66B-7B644E8F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80467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Nguồn dữ liệu và thiết kế nhãn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36C8DBB-A795-4F88-BBB9-CE06E093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899A6"/>
                </a:solidFill>
                <a:latin typeface="Calibri"/>
                <a:ea typeface="Calibri"/>
                <a:cs typeface="Calibri"/>
              </a:rPr>
              <a:t>3</a:t>
            </a:r>
            <a:endParaRPr sz="11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A4C747E-C304-49CA-86D2-24ED8BB2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80467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Bộ chính: Kaggle Recyclable and Household Waste khoảng 15.000 ảnh, 30 lớp, hoặc TrashBusters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Tập ngoại lai để kiểm tra zero-shot: TACO crop từ bbox và RealWaste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Lọc ảnh trùng bằng pHash/MD5, tách 15% Dev/Holdout cố định ngay tuần 1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Huấn luyện nhãn mịn 10-15 lớp, rồi gộp về 3 nhóm bằng label_map.csv có đánh số phiên bản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Đối chứng RQ1: nhãn mịn rồi gộp so với huấn luyện trực tiếp trên 3 nhóm</a:t>
            </a:r>
            <a:endParaRPr sz="1700"/>
          </a:p>
        </p:txBody>
      </p:sp>
    </p:spTree>
    <p:extLst>
      <p:ext uri="{BB962C8B-B14F-4D97-AF65-F5344CB8AC3E}">
        <p14:creationId xmlns:p14="http://schemas.microsoft.com/office/powerpoint/2010/main" val="11055652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28D04D7-9F73-412D-8370-0D6217BB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884552D-07F0-416A-B404-FA50AED0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80467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Quy ước nhãn và kiểm định chất lượng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22FC457-C103-474F-A131-1CECDB79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899A6"/>
                </a:solidFill>
                <a:latin typeface="Calibri"/>
                <a:ea typeface="Calibri"/>
                <a:cs typeface="Calibri"/>
              </a:rPr>
              <a:t>4</a:t>
            </a:r>
            <a:endParaRPr sz="11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264BAE4-8289-4D1F-B05F-26157CDB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2560320" cy="155448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AF1F6"/>
          </a:solidFill>
          <a:ln xmlns:a="http://schemas.openxmlformats.org/drawingml/2006/main" w="12700">
            <a:solidFill>
              <a:srgbClr val="EAF1F6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235FB3F-099E-4D43-93B3-12EFD7BB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25603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κ ≥ 0,70</a:t>
            </a:r>
            <a:endParaRPr sz="3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E409611-5335-4F1B-928F-3A7A3E72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5124"/>
            <a:ext cx="228600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Cohen's kappa giữa 2 người gán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49B9FCE-5B0E-4AEA-9401-BCF5E59E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280160"/>
            <a:ext cx="2560320" cy="155448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AF1F6"/>
          </a:solidFill>
          <a:ln xmlns:a="http://schemas.openxmlformats.org/drawingml/2006/main" w="12700">
            <a:solidFill>
              <a:srgbClr val="EAF1F6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2F32E80-F14A-4DF0-8E71-5F0B62D7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417320"/>
            <a:ext cx="25603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100 ảnh</a:t>
            </a:r>
            <a:endParaRPr sz="3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53475AA-943F-4204-BBD1-218D0239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35124"/>
            <a:ext cx="228600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Gán thử độc lập ở tuần 1</a:t>
            </a:r>
            <a:endParaRPr sz="13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6E4AAD0-F239-4EFC-A2A8-AFE3FE91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280160"/>
            <a:ext cx="2560320" cy="155448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AF1F6"/>
          </a:solidFill>
          <a:ln xmlns:a="http://schemas.openxmlformats.org/drawingml/2006/main" w="12700">
            <a:solidFill>
              <a:srgbClr val="EAF1F6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EB447FB-BE20-4F97-8EE9-6268C183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417320"/>
            <a:ext cx="25603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Ảnh mơ hồ</a:t>
            </a:r>
            <a:endParaRPr sz="3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2FD63BE-9560-40E8-8E66-7B0E53BE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35124"/>
            <a:ext cx="228600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Gắn cờ ảnh khó và báo cáo riêng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44C2A70-22B7-4845-BD0C-6719C696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08960"/>
            <a:ext cx="804672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Viết docs/label_guide.md trước khi chụp, nêu rõ ca ranh giới như ly nhựa dính trà sữa hoặc hộp xốp dính dầu thuộc nhóm "Còn lại"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Nếu kappa chưa đạt, sửa quy ước và gán lại trước khi thu thập diện rộng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Ảnh mơ hồ không dùng để tinh chỉnh mô hình</a:t>
            </a:r>
            <a:endParaRPr sz="1700"/>
          </a:p>
        </p:txBody>
      </p:sp>
    </p:spTree>
    <p:extLst>
      <p:ext uri="{BB962C8B-B14F-4D97-AF65-F5344CB8AC3E}">
        <p14:creationId xmlns:p14="http://schemas.microsoft.com/office/powerpoint/2010/main" val="515200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270E33-2EAC-4803-A944-11F0D7F5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936ADE8-95D3-4305-BDB2-F352BBD1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80467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Thu thập ảnh canteen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2240F6F-D147-4BB0-97CC-B8F83CFD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899A6"/>
                </a:solidFill>
                <a:latin typeface="Calibri"/>
                <a:ea typeface="Calibri"/>
                <a:cs typeface="Calibri"/>
              </a:rPr>
              <a:t>5</a:t>
            </a:r>
            <a:endParaRPr sz="11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8A4668F-38C0-42E2-AB9A-8491430F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2560320" cy="13716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6"/>
          </a:solidFill>
          <a:ln xmlns:a="http://schemas.openxmlformats.org/drawingml/2006/main" w="12700">
            <a:solidFill>
              <a:srgbClr val="EAF1F6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2E89FC4-E413-4EE9-B57D-76503887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25603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≥ 200</a:t>
            </a:r>
            <a:endParaRPr sz="3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8AE6900-685D-435E-8431-CD60D552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4540"/>
            <a:ext cx="2286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ảnh/nhóm cho Test canteen, khoảng 600 ảnh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DFC8EE6-A3C9-42B4-BBEB-23197AD3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280160"/>
            <a:ext cx="2560320" cy="13716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6"/>
          </a:solidFill>
          <a:ln xmlns:a="http://schemas.openxmlformats.org/drawingml/2006/main" w="12700">
            <a:solidFill>
              <a:srgbClr val="EAF1F6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CB767A6-4677-4DD7-93DE-23F4A74F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417320"/>
            <a:ext cx="25603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≥ 100</a:t>
            </a:r>
            <a:endParaRPr sz="3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3C02823-F3D8-403F-BEEB-4A160A41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34540"/>
            <a:ext cx="2286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ảnh/nhóm cho pool few-shot</a:t>
            </a:r>
            <a:endParaRPr sz="13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93C9CBD-14B5-48C3-861B-A1157369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280160"/>
            <a:ext cx="2560320" cy="13716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6"/>
          </a:solidFill>
          <a:ln xmlns:a="http://schemas.openxmlformats.org/drawingml/2006/main" w="12700">
            <a:solidFill>
              <a:srgbClr val="EAF1F6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9B3EA33-1690-4A84-BD95-2B248F17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417320"/>
            <a:ext cx="25603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≥ 50</a:t>
            </a:r>
            <a:endParaRPr sz="3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28C357D-45CC-4147-BEF9-2878A586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34540"/>
            <a:ext cx="2286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ảnh/nhóm cho Validation canteen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644E361-1783-49EF-B3AD-940A3AD3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26080"/>
            <a:ext cx="80467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Chụp top-down trên khay hoặc bàn đồng nhất, một vật chính mỗi ảnh, thay đổi có kiểm soát về ánh sáng, góc xoay và độ bẩn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Ghi cluster_id gồm ngày chụp, ca ăn và vật phẩm cụ thể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Chia Train/Val/Test/Few-shot theo cụm hoặc ngày, không chia ngẫu nhiên từng ảnh để tránh rò rỉ dữ liệu</a:t>
            </a:r>
            <a:endParaRPr sz="1700"/>
          </a:p>
        </p:txBody>
      </p:sp>
    </p:spTree>
    <p:extLst>
      <p:ext uri="{BB962C8B-B14F-4D97-AF65-F5344CB8AC3E}">
        <p14:creationId xmlns:p14="http://schemas.microsoft.com/office/powerpoint/2010/main" val="16427684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C347DA6-88A8-483C-90DB-1D9ACB9E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293C147-04E8-40FF-97B4-3C1EDD99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80467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Rủi ro đã thống nhất và cách xử lý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B8AF8D8-E8E4-4E35-8381-EDFA5A7A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899A6"/>
                </a:solidFill>
                <a:latin typeface="Calibri"/>
                <a:ea typeface="Calibri"/>
                <a:cs typeface="Calibri"/>
              </a:rPr>
              <a:t>6</a:t>
            </a:r>
            <a:endParaRPr sz="11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A18D1EB-95D5-4AEB-ADC6-80B8ACC03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80467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Canteen từ chối cho chụp ảnh: xin phép ngay tuần 1, dự phòng bằng cách mua đồ ăn canteen về phòng thực nghiệm và dựng góc chụp mô phỏng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Test canteen quá nhỏ làm khoảng tin cậy rộng: dùng Cluster Bootstrap theo cluster_id và báo cáo effect size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Kappa chưa đạt: chỉnh label_guide.md rồi gán lại trước khi chụp diện rộng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Nếu trễ ở mốc Go/No-go tuần 5: loại M7 và Canteen-C, dồn thời gian cho Tier B, few-shot và đo trên thiết bị biên</a:t>
            </a:r>
            <a:endParaRPr sz="1700"/>
          </a:p>
        </p:txBody>
      </p:sp>
    </p:spTree>
    <p:extLst>
      <p:ext uri="{BB962C8B-B14F-4D97-AF65-F5344CB8AC3E}">
        <p14:creationId xmlns:p14="http://schemas.microsoft.com/office/powerpoint/2010/main" val="18521876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3774E19-0EAB-45AA-A7A2-8DE0879D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319E7AE-853D-45E4-828C-FDCD47FE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80467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F3A5F"/>
                </a:solidFill>
                <a:latin typeface="Calibri"/>
                <a:ea typeface="Calibri"/>
                <a:cs typeface="Calibri"/>
              </a:rPr>
              <a:t>Tiến độ và việc cần làm tiếp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1E80D89-0257-4D56-B908-E7E89776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899A6"/>
                </a:solidFill>
                <a:latin typeface="Calibri"/>
                <a:ea typeface="Calibri"/>
                <a:cs typeface="Calibri"/>
              </a:rPr>
              <a:t>7</a:t>
            </a:r>
            <a:endParaRPr sz="11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ECDC2DE-D428-45E4-94F8-51B4958C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80467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Tuần 1-2: xin phép canteen, viết label_guide.md, chụp đợt 1 khoảng 100 ảnh và kiểm tra kappa &gt;= 0,70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Tuần 3-4: thu thập mở rộng pool ảnh cốt lõi và Test canteen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Tuần 5 Go/No-go: đóng băng Test canteen &gt;= 600 ảnh, kappa &gt;= 0,70, khóa pool ảnh cốt lõi</a:t>
            </a:r>
            <a:endParaRPr sz="17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>
                <a:solidFill>
                  <a:srgbClr val="222B33"/>
                </a:solidFill>
                <a:latin typeface="Calibri"/>
                <a:ea typeface="Calibri"/>
                <a:cs typeface="Calibri"/>
              </a:rPr>
              <a:t>Nếu trễ: bỏ nhóm mở rộng M7 và Canteen-C, dồn thời gian cho Tier B, few-shot và đo trên thiết bị biên</a:t>
            </a:r>
            <a:endParaRPr sz="1700"/>
          </a:p>
        </p:txBody>
      </p:sp>
    </p:spTree>
    <p:extLst>
      <p:ext uri="{BB962C8B-B14F-4D97-AF65-F5344CB8AC3E}">
        <p14:creationId xmlns:p14="http://schemas.microsoft.com/office/powerpoint/2010/main" val="127702976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2026-10-04T14:02:10.8060000Z</dcterms:created>
  <dcterms:modified xsi:type="dcterms:W3CDTF">2026-10-04T14:02:10.8060000Z</dcterms:modified>
</coreProperties>
</file>