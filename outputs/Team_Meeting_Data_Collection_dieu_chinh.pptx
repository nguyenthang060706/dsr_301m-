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A5F"/>
                </a:solidFill>
                <a:latin typeface="Calibri"/>
              </a:defRPr>
            </a:pPr>
            <a:r>
              <a:t>Team Meeting: Data Collection &amp; Protocol</a:t>
            </a:r>
          </a:p>
          <a:p>
            <a:pPr>
              <a:spcBef>
                <a:spcPts val="400"/>
              </a:spcBef>
              <a:defRPr sz="1400">
                <a:solidFill>
                  <a:srgbClr val="2E8B57"/>
                </a:solidFill>
                <a:latin typeface="Calibri"/>
              </a:defRPr>
            </a:pPr>
            <a:r>
              <a:t>Chuẩn hóa nguồn dữ liệu, quy trình gán nhãn và giao thức chia tập 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222B33"/>
                </a:solidFill>
                <a:latin typeface="Calibri"/>
              </a:defRPr>
            </a:pPr>
            <a:r>
              <a:t>• Đề tài: Knowledge Distillation cho phân loại rác Canteen trên thiết bị biên (Kế hoạch MASTER v9.5).</a:t>
            </a:r>
          </a:p>
          <a:p>
            <a:pPr>
              <a:spcBef>
                <a:spcPts val="400"/>
              </a:spcBef>
              <a:defRPr sz="1150">
                <a:solidFill>
                  <a:srgbClr val="222B33"/>
                </a:solidFill>
                <a:latin typeface="Calibri"/>
              </a:defRPr>
            </a:pPr>
            <a:r>
              <a:t>• Trọng tâm báo cáo: Quyết định nguồn dữ liệu, phương pháp chuyển đổi nhãn, phân bổ các tập độc lập và kiểm soát rò rỉ.</a:t>
            </a:r>
          </a:p>
          <a:p>
            <a:pPr>
              <a:spcBef>
                <a:spcPts val="400"/>
              </a:spcBef>
              <a:defRPr sz="1150">
                <a:solidFill>
                  <a:srgbClr val="222B33"/>
                </a:solidFill>
                <a:latin typeface="Calibri"/>
              </a:defRPr>
            </a:pPr>
            <a:r>
              <a:t>• Hiện trạng tuần 1-2: Đã đóng băng 15.000 ảnh công khai, tạo bảng mapping 30 lớp sang 3 nhóm và nghiệm thu Cổng Teacher M0/ResNet50 (PASS, RER = 21.60%).</a:t>
            </a:r>
          </a:p>
          <a:p>
            <a:pPr>
              <a:spcBef>
                <a:spcPts val="400"/>
              </a:spcBef>
              <a:defRPr sz="1150">
                <a:solidFill>
                  <a:srgbClr val="222B33"/>
                </a:solidFill>
                <a:latin typeface="Calibri"/>
              </a:defRPr>
            </a:pPr>
            <a:r>
              <a:t>• Kế hoạch triển khai: Ban hành docs/label_guide.md, đo Cohen's kappa (κ ≥ 0.70) trên 100 ảnh pilot và thu thập 1.050 ảnh Canteen thực tế.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Mục tiêu dữ liệu: 3 nhóm quyết định bỏ rác Canteen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Phân loại dựa trên quyết định bỏ rác thực tế tại Canteen thay vì phân loại vật liệu 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2606040" cy="205740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88720"/>
            <a:ext cx="2386584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0 - Hữu cơ (Organic)</a:t>
            </a:r>
          </a:p>
          <a:p>
            <a:pPr>
              <a:spcBef>
                <a:spcPts val="4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t>Thức ăn thừa, cơm mì, bún, vỏ trái cây, bã cà phê, bã trà, vỏ trứng</a:t>
            </a:r>
          </a:p>
          <a:p>
            <a:pPr>
              <a:spcBef>
                <a:spcPts val="500"/>
              </a:spcBef>
              <a:defRPr sz="950">
                <a:solidFill>
                  <a:srgbClr val="607282"/>
                </a:solidFill>
                <a:latin typeface="Calibri"/>
              </a:defRPr>
            </a:pPr>
            <a:r>
              <a:t>Mục đích: Ủ compost / chăn nuôi</a:t>
            </a:r>
            <a:br/>
            <a:r>
              <a:t>Yêu cầu: Tuyệt đối không lẫn bao bì nhựa, kim loại hay hóa chất.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097280"/>
            <a:ext cx="2606040" cy="205740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188720"/>
            <a:ext cx="2386584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1 - Tái chế khô (Recyclable)</a:t>
            </a:r>
          </a:p>
          <a:p>
            <a:pPr>
              <a:spcBef>
                <a:spcPts val="4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t>Chai nhựa PET ráo nước, lon nhôm, hộp sữa tiệt trùng, thùng carton sạch</a:t>
            </a:r>
          </a:p>
          <a:p>
            <a:pPr>
              <a:spcBef>
                <a:spcPts val="500"/>
              </a:spcBef>
              <a:defRPr sz="950">
                <a:solidFill>
                  <a:srgbClr val="607282"/>
                </a:solidFill>
                <a:latin typeface="Calibri"/>
              </a:defRPr>
            </a:pPr>
            <a:r>
              <a:t>Mục đích: Ép kiện bán phế liệu</a:t>
            </a:r>
            <a:br/>
            <a:r>
              <a:t>Yêu cầu: Phải ở trạng thái sạch, ráo nước, không dính dầu mỡ thực phẩm.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97280"/>
            <a:ext cx="2606040" cy="205740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188720"/>
            <a:ext cx="2386584" cy="18745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F3A5F"/>
                </a:solidFill>
                <a:latin typeface="Calibri"/>
              </a:defRPr>
            </a:pPr>
            <a:r>
              <a:t>2 - Còn lại (Other / Landfill)</a:t>
            </a:r>
          </a:p>
          <a:p>
            <a:pPr>
              <a:spcBef>
                <a:spcPts val="4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t>Hộp xốp dính dầu, ly nhựa trà sữa dính đá, muỗng nĩa nhựa, giấy ăn bẩn</a:t>
            </a:r>
          </a:p>
          <a:p>
            <a:pPr>
              <a:spcBef>
                <a:spcPts val="500"/>
              </a:spcBef>
              <a:defRPr sz="950">
                <a:solidFill>
                  <a:srgbClr val="607282"/>
                </a:solidFill>
                <a:latin typeface="Calibri"/>
              </a:defRPr>
            </a:pPr>
            <a:r>
              <a:t>Mục đích: Chôn lấp hoặc đốt rác</a:t>
            </a:r>
            <a:br/>
            <a:r>
              <a:t>Yêu cầu: Rác dơ bẩn, vật liệu phức hợp, rác không có giá trị thu hồi.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t>• Nguyên tắc cốt lõi: 'Nếu nghi ngờ vật phẩm gây nhiễm bẩn dây chuyền tái chế -&gt; Mặc định xếp vào nhóm Còn lại (other_landfill)'.</a:t>
            </a:r>
          </a:p>
          <a:p>
            <a:pPr>
              <a:spcBef>
                <a:spcPts val="3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t>• Tính thiết thực: Hệ thống thùng rác Canteen tại trường ĐH thiết kế 3 ngăn; người dùng chỉ quyết định bỏ vào 1 trong 3 ngăn.</a:t>
            </a:r>
          </a:p>
          <a:p>
            <a:pPr>
              <a:spcBef>
                <a:spcPts val="3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t>• Yêu cầu dữ liệu: Cần 2 nguồn dữ liệu độc lập: (1) Ảnh công khai quy mô lớn để học biểu diễn đặc trưng, (2) Ảnh Canteen thật để kiểm tra độ khái quát hóa.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Chốt Nguồn dữ liệu &amp; Bản chất Chuyển đổi Nhãn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Đóng băng nguồn huấn luyện công khai, giải thích chuyển đổi từ TrashNet và chiến lược nhãn mịn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Chốt Bộ dữ liệu Công khai Chính thức (Khóa cứng): Chọn Recyclable and Household Waste Classification (Alistair King, Kaggle). Chính xác 15.000 ảnh, 30 lớp mịn (500 ảnh/lớp, gồm cả ảnh studio và đời thực). Bỏ hoàn toàn phương án dự phòng 'TrashBusters' để đảm bảo tính nhất quán.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Dữ liệu Ngoại lai (External / Zero-shot OOD): TACO (crop theo bounding box) và RealWaste chỉ dùng để kiểm tra độ bền vững ngoài phân phối (out-of-distribution), tuyệt đối KHÔNG đưa vào tập huấn luyện.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Lý do Chuyển từ TrashNet 6 lớp (Tuần 1) sang 3 nhóm Canteen: TrashNet (2.527 ảnh) chỉ phân loại vật liệu lý thuyết trên phông trắng, hoàn toàn không có thức ăn thừa/hữu cơ và không phản ánh độ bẩn thực tế. Canteen thực tế vận hành theo 3 luồng xử lý.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Chiến lược 'Huấn luyện Nhãn mịn 30 lớp -&gt; Gộp 3 nhóm quyết định': Mô hình học đặc trưng phân biệt sắc nét của 30 lớp mịn; khi suy luận, cộng dồn xác suất Softmax theo label_map.csv v2.0. Cách này bảo toàn tri thức tối ('Dark Knowledge') cho Knowledge Distillation, vượt trội so với học thẳng 3 lớp (entropy quá hẹp).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Xác nhận Baseline M0 &amp; Teacher: Baseline M0 (ResNet18) và Teacher (ResNet50) đã được huấn luyện lại hoàn toàn trên giao thức 30 lớp -&gt; 3 nhóm mới (MASTER v9.5). Kết quả: Teacher Canteen F1 = 98.06%, Student M0 = 96.69%, đạt RER = 21.60% &gt;= 20% (PASS cổng Teacher).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Quy trình Ánh xạ Nhãn &amp; Xử lý Ca Ranh giới (Edge Cases)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Bảng ánh xạ chuẩn hóa label_map.csv v2.0 và quy tắc phân loại rác phức tạp tại Canteen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13716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Nhóm Quyết định (3)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Các lớp mịn đại diện (30 lớp)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Số lượng ảnh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Quy tắc Canteen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0 - Hữu cơ (organic)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food_waste, coffee_grounds, eggshells, tea_bags (4 lớp)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2.000 (13.3%)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Thực phẩm, đồ ăn thừa, hữu cơ tự nhiên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1 - Tái chế khô (recyclable)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plastic_water_bottles, aluminum_soda_cans, cardboard_boxes, newspaper, glass_bottles (16 lớp)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8.000 (53.3%)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Vật liệu khô, ráo nước, có giá trị thu hồi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2 - Còn lại (other_landfill)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styrofoam_containers, paper_cups, cutlery, plastic_straws, shopping_bags (10 lớp)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5.000 (33.3%)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2B33"/>
                          </a:solidFill>
                          <a:latin typeface="Calibri"/>
                        </a:defRPr>
                      </a:pPr>
                      <a:r>
                        <a:t>Hộp xốp bẩn, ly giấy dính sáp, nhựa 1 lần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697480"/>
            <a:ext cx="8046720" cy="20116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Ly trà sữa / nước ngọt còn đá hoặc chất lỏng: Mặc định gán Còn lại (other_landfill) vì chất lỏng làm hỏng toàn bộ giấy/nhựa sạch trong thùng tái chế. Đồng thời gắn cờ ambiguous = True.</a:t>
            </a:r>
          </a:p>
          <a:p>
            <a:pPr>
              <a:spcBef>
                <a:spcPts val="3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Hộp xốp thực phẩm (cơm tấm, xôi): Dù sạch hay dính mỡ đều gán Còn lại (canteen trường không có đơn vị thu gom tái chế hạt xốp EPS).</a:t>
            </a:r>
          </a:p>
          <a:p>
            <a:pPr>
              <a:spcBef>
                <a:spcPts val="3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Chai nhựa có nắp và nhãn mác: Vẫn gán Tái chế khô nếu chai đã uống cạn và ráo nước.</a:t>
            </a:r>
          </a:p>
          <a:p>
            <a:pPr>
              <a:spcBef>
                <a:spcPts val="3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Đồ dùng ăn uống 1 lần (muỗng nĩa nhựa, que khuấy, ống hút): Gán Còn lại (nhựa giòn, giá trị tái chế thấp, dính dầu mỡ).</a:t>
            </a:r>
          </a:p>
          <a:p>
            <a:pPr>
              <a:spcBef>
                <a:spcPts val="30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Tính cố định: Bảng label_map.csv v2.0 được đóng băng cố định trước mọi thử nghiệm, không tùy tiện thay đổi giữa chừng.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Phân bố Dữ liệu &amp; Thiết kế Chia tập Độc lập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Số liệu thực tế được kiểm chứng, phân biệt rạch ròi vai trò từng tập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606040" cy="219456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2386584" cy="20116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Dữ liệu Công khai (Kaggle)</a:t>
            </a:r>
          </a:p>
          <a:p>
            <a:pPr>
              <a:spcBef>
                <a:spcPts val="200"/>
              </a:spcBef>
              <a:defRPr sz="1000" b="1">
                <a:solidFill>
                  <a:srgbClr val="2E8B57"/>
                </a:solidFill>
                <a:latin typeface="Calibri"/>
              </a:defRPr>
            </a:pPr>
            <a:r>
              <a:t>15.000 ảnh (30 lớp)</a:t>
            </a:r>
          </a:p>
          <a:p>
            <a:pPr>
              <a:spcBef>
                <a:spcPts val="4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t>• Train (85%): 12.750 ảnh (cập nhật trọng số)</a:t>
            </a:r>
            <a:br/>
            <a:r>
              <a:t>• Dev/Holdout (15%): 2.250 ảnh (chọn model, tune)</a:t>
            </a:r>
            <a:br/>
            <a:r>
              <a:t>• Tỷ lệ lớp: Hữu cơ 13.3% (2.000) | Tái chế khô 53.3% (8.000) | Còn lại 33.3% (5.000)</a:t>
            </a:r>
            <a:br/>
            <a:r>
              <a:t>• Tỷ lệ 1:4:2.5 phản ánh đúng phân bố 4 : 16 : 10 lớp gốc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051560"/>
            <a:ext cx="2606040" cy="219456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143000"/>
            <a:ext cx="2386584" cy="20116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Dữ liệu Canteen Thật</a:t>
            </a:r>
          </a:p>
          <a:p>
            <a:pPr>
              <a:spcBef>
                <a:spcPts val="200"/>
              </a:spcBef>
              <a:defRPr sz="1000" b="1">
                <a:solidFill>
                  <a:srgbClr val="2E8B57"/>
                </a:solidFill>
                <a:latin typeface="Calibri"/>
              </a:defRPr>
            </a:pPr>
            <a:r>
              <a:t>Mục tiêu 1.050 ảnh</a:t>
            </a:r>
          </a:p>
          <a:p>
            <a:pPr>
              <a:spcBef>
                <a:spcPts val="4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t>• Test Canteen (Cố định): 600 ảnh (200/nhóm)</a:t>
            </a:r>
            <a:br/>
            <a:r>
              <a:t>• Few-shot Pool: 300 ảnh (100/nhóm, k-shot)</a:t>
            </a:r>
            <a:br/>
            <a:r>
              <a:t>• Validation Canteen: 150 ảnh (50/nhóm, INT8)</a:t>
            </a:r>
            <a:br/>
            <a:r>
              <a:t>• Chụp tại Canteen trường ĐH, cân bằng 3 nhóm, bảo đảm tính độc lập hoàn toàn giữa 3 tập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51560"/>
            <a:ext cx="2606040" cy="219456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143000"/>
            <a:ext cx="2386584" cy="20116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200" b="1">
                <a:solidFill>
                  <a:srgbClr val="1F3A5F"/>
                </a:solidFill>
                <a:latin typeface="Calibri"/>
              </a:defRPr>
            </a:pPr>
            <a:r>
              <a:t>Phân định Rạch ròi các Tập</a:t>
            </a:r>
          </a:p>
          <a:p>
            <a:pPr>
              <a:spcBef>
                <a:spcPts val="200"/>
              </a:spcBef>
              <a:defRPr sz="1000" b="1">
                <a:solidFill>
                  <a:srgbClr val="2E8B57"/>
                </a:solidFill>
                <a:latin typeface="Calibri"/>
              </a:defRPr>
            </a:pPr>
            <a:r>
              <a:t>Nguyên tắc Khoa học</a:t>
            </a:r>
          </a:p>
          <a:p>
            <a:pPr>
              <a:spcBef>
                <a:spcPts val="4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t>• Train: Cập nhật trọng số mô hình</a:t>
            </a:r>
            <a:br/>
            <a:r>
              <a:t>• Dev/Holdout: Chọn mô hình &amp; tune tham số</a:t>
            </a:r>
            <a:br/>
            <a:r>
              <a:t>• Test Canteen: Đánh giá domain transfer cuối cùng</a:t>
            </a:r>
            <a:br/>
            <a:r>
              <a:t>• Few-shot Pool: Thích nghi ít mẫu k-shot</a:t>
            </a:r>
            <a:br/>
            <a:r>
              <a:t>• TACO/RealWaste: Đo lường độ bền 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Làm rõ con số 13.3% / 53.3% / 33.3%: Đây là tỷ lệ thực tế tính từ 30 lớp x 500 ảnh của dataset công khai (4 lớp Hữu cơ, 16 lớp Tái chế, 10 lớp Còn lại), không phải ước lượng cảm tính.</a:t>
            </a:r>
          </a:p>
          <a:p>
            <a:pPr>
              <a:spcBef>
                <a:spcPts val="3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Xử lý mất cân bằng lớp: Do tập công khai mất cân bằng 1 : 4 : 2.5, chỉ số đánh giá bắt buộc dùng Macro-F1 và Balanced Accuracy (tránh bị chi phối bởi lớp Tái chế khô).</a:t>
            </a:r>
          </a:p>
          <a:p>
            <a:pPr>
              <a:spcBef>
                <a:spcPts val="3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Tách biệt hoàn toàn: Tập Test Canteen (600 ảnh) được đóng băng riêng biệt, tuyệt đối không dùng để tune siêu tham số hay huấn luyện.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Quy ước Gán nhãn &amp; Kiểm định Chất lượng (Quality Assurance)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Giao thức văn bản docs/label_guide.md, kiểm định Cohen's kappa và quản lý ảnh mơ hồ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606040" cy="118872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2386584" cy="104241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2000" b="1">
                <a:solidFill>
                  <a:srgbClr val="1F3A5F"/>
                </a:solidFill>
                <a:latin typeface="Calibri"/>
              </a:defRPr>
            </a:pPr>
            <a:r>
              <a:t>κ ≥ 0,70</a:t>
            </a:r>
          </a:p>
          <a:p>
            <a:pPr algn="ctr">
              <a:spcBef>
                <a:spcPts val="100"/>
              </a:spcBef>
              <a:defRPr sz="1050" b="1">
                <a:solidFill>
                  <a:srgbClr val="2E8B57"/>
                </a:solidFill>
                <a:latin typeface="Calibri"/>
              </a:defRPr>
            </a:pPr>
            <a:r>
              <a:t>Cohen's Kappa mục tiêu</a:t>
            </a:r>
          </a:p>
          <a:p>
            <a:pPr algn="ctr">
              <a:spcBef>
                <a:spcPts val="200"/>
              </a:spcBef>
              <a:defRPr sz="900">
                <a:solidFill>
                  <a:srgbClr val="222B33"/>
                </a:solidFill>
                <a:latin typeface="Calibri"/>
              </a:defRPr>
            </a:pPr>
            <a:r>
              <a:t>Độ đồng thuận giữa 2 annotator độc lập trên 100 ảnh pilot đầu tiên.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051560"/>
            <a:ext cx="2606040" cy="118872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124712"/>
            <a:ext cx="2386584" cy="104241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2000" b="1">
                <a:solidFill>
                  <a:srgbClr val="1F3A5F"/>
                </a:solidFill>
                <a:latin typeface="Calibri"/>
              </a:defRPr>
            </a:pPr>
            <a:r>
              <a:t>100 ảnh</a:t>
            </a:r>
          </a:p>
          <a:p>
            <a:pPr algn="ctr">
              <a:spcBef>
                <a:spcPts val="100"/>
              </a:spcBef>
              <a:defRPr sz="1050" b="1">
                <a:solidFill>
                  <a:srgbClr val="2E8B57"/>
                </a:solidFill>
                <a:latin typeface="Calibri"/>
              </a:defRPr>
            </a:pPr>
            <a:r>
              <a:t>Mẫu thử nghiệm Tuần 1-2</a:t>
            </a:r>
          </a:p>
          <a:p>
            <a:pPr algn="ctr">
              <a:spcBef>
                <a:spcPts val="200"/>
              </a:spcBef>
              <a:defRPr sz="900">
                <a:solidFill>
                  <a:srgbClr val="222B33"/>
                </a:solidFill>
                <a:latin typeface="Calibri"/>
              </a:defRPr>
            </a:pPr>
            <a:r>
              <a:t>Gán nhãn độc lập hoàn toàn, không thảo luận trước khi tính toán.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051560"/>
            <a:ext cx="2606040" cy="1188720"/>
          </a:xfrm>
          <a:prstGeom prst="roundRect">
            <a:avLst/>
          </a:prstGeom>
          <a:solidFill>
            <a:srgbClr val="EAF1F6"/>
          </a:solidFill>
          <a:ln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124712"/>
            <a:ext cx="2386584" cy="1042416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 algn="ctr">
              <a:defRPr sz="2000" b="1">
                <a:solidFill>
                  <a:srgbClr val="1F3A5F"/>
                </a:solidFill>
                <a:latin typeface="Calibri"/>
              </a:defRPr>
            </a:pPr>
            <a:r>
              <a:t>ambiguous</a:t>
            </a:r>
          </a:p>
          <a:p>
            <a:pPr algn="ctr">
              <a:spcBef>
                <a:spcPts val="100"/>
              </a:spcBef>
              <a:defRPr sz="1050" b="1">
                <a:solidFill>
                  <a:srgbClr val="2E8B57"/>
                </a:solidFill>
                <a:latin typeface="Calibri"/>
              </a:defRPr>
            </a:pPr>
            <a:r>
              <a:t>Cờ cho ảnh ranh giới</a:t>
            </a:r>
          </a:p>
          <a:p>
            <a:pPr algn="ctr">
              <a:spcBef>
                <a:spcPts val="200"/>
              </a:spcBef>
              <a:defRPr sz="900">
                <a:solidFill>
                  <a:srgbClr val="222B33"/>
                </a:solidFill>
                <a:latin typeface="Calibri"/>
              </a:defRPr>
            </a:pPr>
            <a:r>
              <a:t>Đánh giá riêng độ bền mô hình; KHÔNG dùng để train/tune mô hình.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8046720" cy="23317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3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Văn bản Quy chuẩn: Đã ban hành docs/label_guide.md xác lập quy tắc gán nhãn, định nghĩa vật phẩm và phân loại ca ranh giới.</a:t>
            </a:r>
          </a:p>
          <a:p>
            <a:pPr>
              <a:spcBef>
                <a:spcPts val="3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Quy trình Kiểm định Độ đồng thuận: Lấy mẫu ngẫu nhiên 100 ảnh canteen đầu tiên. Hai người gán nhãn độc lập hoàn toàn. Tính hệ số Cohen's kappa: κ = (p_o - p_e) / (1 - p_e).</a:t>
            </a:r>
          </a:p>
          <a:p>
            <a:pPr>
              <a:spcBef>
                <a:spcPts val="3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Xử lý khi κ &lt; 0.70: Nếu không đạt, dừng chụp diện rộng; mở họp đối chiếu ma trận nhầm lẫn, sửa label_guide.md và gán lại mẫu mới.</a:t>
            </a:r>
          </a:p>
          <a:p>
            <a:pPr>
              <a:spcBef>
                <a:spcPts val="3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Trọng tài Giải quyết Bất đồng: Các trường hợp tranh chấp sau thảo luận sẽ do Lead nghiên cứu quyết định và ghi rõ lý do vào metadata.</a:t>
            </a:r>
          </a:p>
          <a:p>
            <a:pPr>
              <a:spcBef>
                <a:spcPts val="300"/>
              </a:spcBef>
              <a:defRPr sz="9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Quản lý Ảnh Mơ hồ (Ambiguous): Ảnh ranh giới được gắn cờ ambiguous = True; chỉ dùng để kiểm tra độ nhạy mô hình, tuyệt đối KHÔNG dùng để train hay tune.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Thu thập Ảnh Canteen &amp; Giao thức Chống Rò rỉ Dữ liệu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Thiết lập chụp thực tế chuẩn hóa, phân cụm cluster_id và phát hiện trùng lặp đa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Giao thức Thu thập Thực tế (Acquisition Setup): Góc máy top-down vuông góc (90 độ) mô phỏng camera gắn trên nắp thùng rác thông minh. Đặt trên nền khay ăn hoặc mặt bàn Canteen đồng nhất, 1 vật phẩm chính mỗi ảnh.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Biến thiên có Kiểm soát: Chụp với 3 điều kiện ánh sáng (sáng tự nhiên, đèn canteen, góc khuất), 4 góc xoay vật thể (0, 90, 180, 270 độ), và 2 trạng thái hình thái (nguyên vẹn, bẹp méo/dính bẩn).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Kiểm soát Rò rỉ Bằng Cụm (Cluster-based Splitting): Mỗi ảnh được gán mã cụm định danh: cluster_id = YYYYMMDD_Ca_LoaiVat (Ví dụ: 20261002_trua_chaipet). Toàn bộ ảnh cùng vật phẩm/buổi chụp BẮT BUỘC chỉ nằm trọn trong 1 tập (Val, Test, hoặc Few-shot), không bao giờ xuất hiện ở 2 tập khác nhau.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Lọc Trùng Lặp Hai Tầng (Deduplication Pipeline): (1) MD5 Checksum: Loại bỏ 100% ảnh trùng lặp file vật lý. (2) Perceptual Hash (pHash): Bắt các ảnh gần như giống hệt nhau (khoảng cách Hamming &lt;= 5) do chụp liên tiếp hoặc crop nhẹ.</a:t>
            </a:r>
          </a:p>
          <a:p>
            <a:pPr>
              <a:spcBef>
                <a:spcPts val="400"/>
              </a:spcBef>
              <a:defRPr sz="105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Cấu trúc Metadata Đầy đủ (canteen_metadata.csv): Ghi nhận chính xác: image_id, cluster_id, date, shift, device, fine_label, coarse_label, is_clean, is_distorted, ambiguous, annotator_1, annotator_2, final_label.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F3A5F"/>
                </a:solidFill>
                <a:latin typeface="Calibri"/>
              </a:defRPr>
            </a:pPr>
            <a:r>
              <a:t>Mục tiêu Đánh giá, Quản trị Rủi ro &amp; Kế hoạch Hành động</a:t>
            </a:r>
          </a:p>
          <a:p>
            <a:pPr>
              <a:defRPr sz="1100">
                <a:solidFill>
                  <a:srgbClr val="607282"/>
                </a:solidFill>
                <a:latin typeface="Calibri"/>
              </a:defRPr>
            </a:pPr>
            <a:r>
              <a:t>Khung câu hỏi nghiên cứu, tiêu chuẩn đo lường biên và mốc Go/No-go Tuần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475488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07282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Bef>
                <a:spcPts val="35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Mục tiêu Khoa học &amp; Câu hỏi Nghiên cứu: RQ1: So sánh hiệu quả giữa các cơ chế KD (Hinton logit, DKD, Attention Transfer) và chứng minh lợi thế của Fine-to-Coarse (30 lớp -&gt; 3 nhóm). RQ2: Đo lường mức độ suy giảm do Domain Shift và xây dựng đường cong thích nghi ít mẫu k-shot ∈ {0, 5, 10, 20, 50}.</a:t>
            </a:r>
          </a:p>
          <a:p>
            <a:pPr>
              <a:spcBef>
                <a:spcPts val="35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Hệ Chỉ số Đánh giá Toàn diện: Macro-F1 (chỉ số chính chống lệch lớp), Balanced Accuracy, Recall từng nhóm và Critical Error (tỷ lệ nhầm lẫn nghiêm trọng giữa Hữu cơ &lt;-&gt; Tái chế khô làm hỏng mẻ tái chế).</a:t>
            </a:r>
          </a:p>
          <a:p>
            <a:pPr>
              <a:spcBef>
                <a:spcPts val="35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Tiêu chuẩn Đánh giá Biên (Edge Goal): Mô hình nén INT8 PTQ qua ONNX Runtime / TFLite chạy trên điện thoại Android / Raspberry Pi; yêu cầu độ tụt Macro-F1 &lt;= 2.0%, đo lặp 200 lần với 50 lần warm-up, báo cáo Median / P95 Latency.</a:t>
            </a:r>
          </a:p>
          <a:p>
            <a:pPr>
              <a:spcBef>
                <a:spcPts val="35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Quản trị Rủi ro Thực tế: Nếu Canteen từ chối cho chụp: Xin phép chính thức ngay tuần 1; dự phòng bằng cách mua đồ ăn Canteen về phòng lab dựng góc chụp mô phỏng. Nếu kích thước mẫu nhỏ: Dùng Cluster Bootstrap theo cụm (B = 2.000) để tính khoảng tin cậy 95% CI trung thực.</a:t>
            </a:r>
          </a:p>
          <a:p>
            <a:pPr>
              <a:spcBef>
                <a:spcPts val="350"/>
              </a:spcBef>
              <a:defRPr sz="1000">
                <a:solidFill>
                  <a:srgbClr val="222B33"/>
                </a:solidFill>
                <a:latin typeface="Calibri"/>
              </a:defRPr>
            </a:pPr>
            <a:r>
              <a:rPr b="1">
                <a:solidFill>
                  <a:srgbClr val="1F3A5F"/>
                </a:solidFill>
              </a:rPr>
              <a:t>• Kế hoạch &amp; Mốc Go/No-go Tuần 5: Tuần 1-2: Hoàn tất pilot 100 ảnh, đạt κ &gt;= 0.70. Tuần 3-4: Thu thập diện rộng. Cuối Tuần 5 [Go/No-go]: Đóng băng Test Canteen &gt;= 600 ảnh, khóa pool ảnh cốt lõi. Nếu trễ, kích hoạt phương án cắt giảm nhóm mở rộng M7/Canteen-C.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