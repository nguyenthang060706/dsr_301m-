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8046720" cy="1371600"/>
          </a:xfrm>
          <a:prstGeom prst="rect">
            <a:avLst/>
          </a:prstGeom>
          <a:noFill/>
        </p:spPr>
        <p:txBody>
          <a:bodyPr wrap="square">
            <a:spAutoFit/>
          </a:bodyPr>
          <a:lstStyle/>
          <a:p>
            <a:pPr>
              <a:defRPr sz="2400" b="1">
                <a:solidFill>
                  <a:srgbClr val="1B365D"/>
                </a:solidFill>
                <a:latin typeface="Calibri"/>
              </a:defRPr>
            </a:pPr>
            <a:r>
              <a:t>Phân Loại Rác Thải Đa Vật Thể Trên Khay Ăn Canteen</a:t>
            </a:r>
          </a:p>
          <a:p>
            <a:pPr>
              <a:spcBef>
                <a:spcPts val="400"/>
              </a:spcBef>
              <a:defRPr sz="1300" b="1">
                <a:solidFill>
                  <a:srgbClr val="1B8A5A"/>
                </a:solidFill>
                <a:latin typeface="Calibri"/>
              </a:defRPr>
            </a:pPr>
            <a:r>
              <a:t>Quy Trình Xử Lý Dữ Liệu, Kiến Trúc Pipeline 2 Giai Đoạn &amp; Giao Thức Đánh Giá (MASTER v10.0)</a:t>
            </a:r>
          </a:p>
        </p:txBody>
      </p:sp>
      <p:sp>
        <p:nvSpPr>
          <p:cNvPr id="4" name="TextBox 3"/>
          <p:cNvSpPr txBox="1"/>
          <p:nvPr/>
        </p:nvSpPr>
        <p:spPr>
          <a:xfrm>
            <a:off x="640080" y="2377440"/>
            <a:ext cx="8046720" cy="2286000"/>
          </a:xfrm>
          <a:prstGeom prst="rect">
            <a:avLst/>
          </a:prstGeom>
          <a:noFill/>
        </p:spPr>
        <p:txBody>
          <a:bodyPr wrap="square">
            <a:spAutoFit/>
          </a:bodyPr>
          <a:lstStyle/>
          <a:p>
            <a:pPr>
              <a:spcBef>
                <a:spcPts val="400"/>
              </a:spcBef>
              <a:defRPr sz="1100">
                <a:solidFill>
                  <a:srgbClr val="222831"/>
                </a:solidFill>
                <a:latin typeface="Calibri"/>
              </a:defRPr>
            </a:pPr>
            <a:r>
              <a:rPr b="1">
                <a:solidFill>
                  <a:srgbClr val="1B365D"/>
                </a:solidFill>
              </a:rPr>
              <a:t>• Chuyển dịch trọng tâm bài toán: Từ bỏ giả định chụp đơn lẻ 1-2 vật thể trên nền trắng. Chuyển sang bài toán thực chiến: Nhận diện và phân loại nhiều loại rác đan xen trên khay ăn canteen.</a:t>
            </a:r>
          </a:p>
          <a:p>
            <a:pPr>
              <a:spcBef>
                <a:spcPts val="400"/>
              </a:spcBef>
              <a:defRPr sz="1100">
                <a:solidFill>
                  <a:srgbClr val="222831"/>
                </a:solidFill>
                <a:latin typeface="Calibri"/>
              </a:defRPr>
            </a:pPr>
            <a:r>
              <a:rPr b="1">
                <a:solidFill>
                  <a:srgbClr val="1B365D"/>
                </a:solidFill>
              </a:rPr>
              <a:t>• Phương pháp chủ đạo: Pipeline 2 giai đoạn: Detector D1 (Class-Agnostic) định vị vật rác -&gt; KD Classifier (Student ResNet18/MobileNetV3) phân loại vào 3 nhóm + lọc background.</a:t>
            </a:r>
          </a:p>
          <a:p>
            <a:pPr>
              <a:spcBef>
                <a:spcPts val="400"/>
              </a:spcBef>
              <a:defRPr sz="1100">
                <a:solidFill>
                  <a:srgbClr val="222831"/>
                </a:solidFill>
                <a:latin typeface="Calibri"/>
              </a:defRPr>
            </a:pPr>
            <a:r>
              <a:rPr b="1">
                <a:solidFill>
                  <a:srgbClr val="1B365D"/>
                </a:solidFill>
              </a:rPr>
              <a:t>• Xử lý dữ liệu chuyên sâu: Lọc trùng lặp 2 tầng (MD5, pHash), chuẩn hóa kích thước 256x256 SSD, chuyển đổi TACO 80/20, tích hợp khay ăn Padova và sinh ảnh ghép Copy-Paste.</a:t>
            </a:r>
          </a:p>
          <a:p>
            <a:pPr>
              <a:spcBef>
                <a:spcPts val="400"/>
              </a:spcBef>
              <a:defRPr sz="1100">
                <a:solidFill>
                  <a:srgbClr val="222831"/>
                </a:solidFill>
                <a:latin typeface="Calibri"/>
              </a:defRPr>
            </a:pPr>
            <a:r>
              <a:rPr b="1">
                <a:solidFill>
                  <a:srgbClr val="1B365D"/>
                </a:solidFill>
              </a:rPr>
              <a:t>• Kiểm soát chất lượng gán nhãn: Ban hành label_guide.md v2.0 có quy chuẩn Bounding Box; kiểm định độ đồng thuận 2 tầng (Box F1 &gt;= 0.80 và Cohen's kappa &gt;= 0.70) trên khay canteen thật.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Định nghĩa Bài toán: Phân loại Rác Khay Canteen &amp; Pipeline 2-Stage</a:t>
            </a:r>
          </a:p>
          <a:p>
            <a:pPr>
              <a:spcBef>
                <a:spcPts val="200"/>
              </a:spcBef>
              <a:defRPr sz="1050">
                <a:solidFill>
                  <a:srgbClr val="5A6E7F"/>
                </a:solidFill>
                <a:latin typeface="Calibri"/>
              </a:defRPr>
            </a:pPr>
            <a:r>
              <a:t>Tại sao không chụp đơn lẻ? Khay ăn hỗn hợp thực tế đòi hỏi kết hợp Phát hiện BBox và Chưng cất Tri thức</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2/8</a:t>
            </a:r>
          </a:p>
        </p:txBody>
      </p:sp>
      <p:sp>
        <p:nvSpPr>
          <p:cNvPr id="5" name="Rounded Rectangle 4"/>
          <p:cNvSpPr/>
          <p:nvPr/>
        </p:nvSpPr>
        <p:spPr>
          <a:xfrm>
            <a:off x="502920" y="1051560"/>
            <a:ext cx="3886200" cy="23774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43000"/>
            <a:ext cx="3611880" cy="2194560"/>
          </a:xfrm>
          <a:prstGeom prst="rect">
            <a:avLst/>
          </a:prstGeom>
          <a:noFill/>
        </p:spPr>
        <p:txBody>
          <a:bodyPr wrap="square">
            <a:spAutoFit/>
          </a:bodyPr>
          <a:lstStyle/>
          <a:p>
            <a:pPr>
              <a:defRPr sz="1300" b="1">
                <a:solidFill>
                  <a:srgbClr val="1B365D"/>
                </a:solidFill>
                <a:latin typeface="Calibri"/>
              </a:defRPr>
            </a:pPr>
            <a:r>
              <a:t>Thách Thức Thực Tế Trên Khay Ăn</a:t>
            </a:r>
          </a:p>
          <a:p>
            <a:pPr>
              <a:spcBef>
                <a:spcPts val="300"/>
              </a:spcBef>
              <a:defRPr sz="950">
                <a:solidFill>
                  <a:srgbClr val="222831"/>
                </a:solidFill>
                <a:latin typeface="Calibri"/>
              </a:defRPr>
            </a:pPr>
            <a:r>
              <a:t>• Đa vật thể hỗn hợp: Một khay gồm đĩa cơm thừa, hộp xốp dính dầu, ly trà sữa, muỗng nhựa, khăn giấy.</a:t>
            </a:r>
          </a:p>
          <a:p>
            <a:pPr>
              <a:spcBef>
                <a:spcPts val="300"/>
              </a:spcBef>
              <a:defRPr sz="950">
                <a:solidFill>
                  <a:srgbClr val="222831"/>
                </a:solidFill>
                <a:latin typeface="Calibri"/>
              </a:defRPr>
            </a:pPr>
            <a:r>
              <a:t>• Che khuất &amp; Chồng lấn: Các vật thể đè lên nhau (occlusion), dính bẩn lẫn nhau.</a:t>
            </a:r>
          </a:p>
          <a:p>
            <a:pPr>
              <a:spcBef>
                <a:spcPts val="300"/>
              </a:spcBef>
              <a:defRPr sz="950">
                <a:solidFill>
                  <a:srgbClr val="222831"/>
                </a:solidFill>
                <a:latin typeface="Calibri"/>
              </a:defRPr>
            </a:pPr>
            <a:r>
              <a:t>• Phân định Rác vs Dụng cụ: Bát, đĩa, khay và thìa kim loại là tài sản của trường (không phải rác), cần loại trừ.</a:t>
            </a:r>
          </a:p>
          <a:p>
            <a:pPr>
              <a:spcBef>
                <a:spcPts val="300"/>
              </a:spcBef>
              <a:defRPr sz="950">
                <a:solidFill>
                  <a:srgbClr val="222831"/>
                </a:solidFill>
                <a:latin typeface="Calibri"/>
              </a:defRPr>
            </a:pPr>
            <a:r>
              <a:t>• Hạn chế của mô hình đơn lẻ: Chụp 1 ảnh rồi phân loại cả ảnh sẽ thất bại vì ảnh chứa nhiều loại rác cùng lúc.</a:t>
            </a:r>
          </a:p>
        </p:txBody>
      </p:sp>
      <p:sp>
        <p:nvSpPr>
          <p:cNvPr id="7" name="Rounded Rectangle 6"/>
          <p:cNvSpPr/>
          <p:nvPr/>
        </p:nvSpPr>
        <p:spPr>
          <a:xfrm>
            <a:off x="4709160" y="1051560"/>
            <a:ext cx="3886200" cy="23774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143000"/>
            <a:ext cx="3611880" cy="2194560"/>
          </a:xfrm>
          <a:prstGeom prst="rect">
            <a:avLst/>
          </a:prstGeom>
          <a:noFill/>
        </p:spPr>
        <p:txBody>
          <a:bodyPr wrap="square">
            <a:spAutoFit/>
          </a:bodyPr>
          <a:lstStyle/>
          <a:p>
            <a:pPr>
              <a:defRPr sz="1300" b="1">
                <a:solidFill>
                  <a:srgbClr val="1B8A5A"/>
                </a:solidFill>
                <a:latin typeface="Calibri"/>
              </a:defRPr>
            </a:pPr>
            <a:r>
              <a:t>Giải Pháp: Pipeline 2 Giai Đoạn</a:t>
            </a:r>
          </a:p>
          <a:p>
            <a:pPr>
              <a:spcBef>
                <a:spcPts val="300"/>
              </a:spcBef>
              <a:defRPr sz="950">
                <a:solidFill>
                  <a:srgbClr val="222831"/>
                </a:solidFill>
                <a:latin typeface="Calibri"/>
              </a:defRPr>
            </a:pPr>
            <a:r>
              <a:t>• Giai đoạn 1 (Detector D1 Class-Agnostic): YOLOv8n quét toàn bộ khay, phát hiện mọi vị trí có vật rác (1 lớp 'waste') -&gt; Xuất Bounding Boxes (N &lt;= 8).</a:t>
            </a:r>
          </a:p>
          <a:p>
            <a:pPr>
              <a:spcBef>
                <a:spcPts val="300"/>
              </a:spcBef>
              <a:defRPr sz="950">
                <a:solidFill>
                  <a:srgbClr val="222831"/>
                </a:solidFill>
                <a:latin typeface="Calibri"/>
              </a:defRPr>
            </a:pPr>
            <a:r>
              <a:t>• Giai đoạn 2 (KD Classifier): Crop từng vùng box rác, đưa qua Student Classifier (ResNet18 / MobileNetV3) để phân vào 3 nhóm rác canteen.</a:t>
            </a:r>
          </a:p>
          <a:p>
            <a:pPr>
              <a:spcBef>
                <a:spcPts val="300"/>
              </a:spcBef>
              <a:defRPr sz="950">
                <a:solidFill>
                  <a:srgbClr val="222831"/>
                </a:solidFill>
                <a:latin typeface="Calibri"/>
              </a:defRPr>
            </a:pPr>
            <a:r>
              <a:t>• Lớp Background đào thải lỗi: Nếu Detector crop nhầm mép bàn/khay rỗng, Classifier gán nhãn 'background' để tự động loại bỏ.</a:t>
            </a:r>
          </a:p>
          <a:p>
            <a:pPr>
              <a:spcBef>
                <a:spcPts val="300"/>
              </a:spcBef>
              <a:defRPr sz="950">
                <a:solidFill>
                  <a:srgbClr val="222831"/>
                </a:solidFill>
                <a:latin typeface="Calibri"/>
              </a:defRPr>
            </a:pPr>
            <a:r>
              <a:t>• Bảo toàn thành quả KD: Tận dụng trọn vẹn 15.000 ảnh Kaggle và các mô hình chưng cất tri thức Teacher-Student đã dày công tối ưu.</a:t>
            </a:r>
          </a:p>
        </p:txBody>
      </p:sp>
      <p:sp>
        <p:nvSpPr>
          <p:cNvPr id="9" name="TextBox 8"/>
          <p:cNvSpPr txBox="1"/>
          <p:nvPr/>
        </p:nvSpPr>
        <p:spPr>
          <a:xfrm>
            <a:off x="502920" y="3566160"/>
            <a:ext cx="8092440" cy="1188720"/>
          </a:xfrm>
          <a:prstGeom prst="rect">
            <a:avLst/>
          </a:prstGeom>
          <a:noFill/>
        </p:spPr>
        <p:txBody>
          <a:bodyPr wrap="square">
            <a:spAutoFit/>
          </a:bodyPr>
          <a:lstStyle/>
          <a:p>
            <a:pPr>
              <a:defRPr sz="1050" b="1">
                <a:solidFill>
                  <a:srgbClr val="1B365D"/>
                </a:solidFill>
                <a:latin typeface="Calibri"/>
              </a:defRPr>
            </a:pPr>
            <a:r>
              <a:t>• Nguyên lý vận hành: Ảnh khay canteen -&gt; [Detector D1] -&gt; N Bounding Boxes -&gt; Crop từng vùng -&gt; [KD Classifier] -&gt; Danh sách {Box, Nhóm Rác, Độ tin cậy}. Mô hình đạt chuẩn thời gian thực trên chip biên.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Mục tiêu Phân loại: 3 Nhóm Quyết định Rác Canteen &amp; Quy tắc Nhiễm bẩn</a:t>
            </a:r>
          </a:p>
          <a:p>
            <a:pPr>
              <a:spcBef>
                <a:spcPts val="200"/>
              </a:spcBef>
              <a:defRPr sz="1050">
                <a:solidFill>
                  <a:srgbClr val="5A6E7F"/>
                </a:solidFill>
                <a:latin typeface="Calibri"/>
              </a:defRPr>
            </a:pPr>
            <a:r>
              <a:t>Phân loại dựa trên quy trình thu gom xử lý thực tế tại nguồn thay vì vật liệu lý thuyết</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3/8</a:t>
            </a:r>
          </a:p>
        </p:txBody>
      </p:sp>
      <p:sp>
        <p:nvSpPr>
          <p:cNvPr id="5" name="Rounded Rectangle 4"/>
          <p:cNvSpPr/>
          <p:nvPr/>
        </p:nvSpPr>
        <p:spPr>
          <a:xfrm>
            <a:off x="502920"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143000"/>
            <a:ext cx="2414016" cy="1965960"/>
          </a:xfrm>
          <a:prstGeom prst="rect">
            <a:avLst/>
          </a:prstGeom>
          <a:noFill/>
        </p:spPr>
        <p:txBody>
          <a:bodyPr wrap="square">
            <a:spAutoFit/>
          </a:bodyPr>
          <a:lstStyle/>
          <a:p>
            <a:pPr>
              <a:defRPr sz="1250" b="1">
                <a:solidFill>
                  <a:srgbClr val="1B365D"/>
                </a:solidFill>
                <a:latin typeface="Calibri"/>
              </a:defRPr>
            </a:pPr>
            <a:r>
              <a:t>0 - Hữu cơ (Organic)</a:t>
            </a:r>
          </a:p>
          <a:p>
            <a:pPr>
              <a:spcBef>
                <a:spcPts val="300"/>
              </a:spcBef>
              <a:defRPr sz="950">
                <a:solidFill>
                  <a:srgbClr val="222831"/>
                </a:solidFill>
                <a:latin typeface="Calibri"/>
              </a:defRPr>
            </a:pPr>
            <a:r>
              <a:t>Thức ăn thừa, cơm, mì, bún, rau củ, vỏ trái cây, xương thịt thừa, bã trà/cà phê</a:t>
            </a:r>
          </a:p>
          <a:p>
            <a:pPr>
              <a:spcBef>
                <a:spcPts val="400"/>
              </a:spcBef>
              <a:defRPr sz="900">
                <a:solidFill>
                  <a:srgbClr val="5A6E7F"/>
                </a:solidFill>
                <a:latin typeface="Calibri"/>
              </a:defRPr>
            </a:pPr>
            <a:r>
              <a:t>Quy trình: Đưa đi ủ phân compost hoặc làm thức ăn chăn nuôi.</a:t>
            </a:r>
            <a:br/>
            <a:r>
              <a:t>Yêu cầu: Tuyệt đối không lẫn bao bì nhựa, muỗng nĩa 1 lần hay túi nilon.</a:t>
            </a:r>
          </a:p>
        </p:txBody>
      </p:sp>
      <p:sp>
        <p:nvSpPr>
          <p:cNvPr id="7" name="Rounded Rectangle 6"/>
          <p:cNvSpPr/>
          <p:nvPr/>
        </p:nvSpPr>
        <p:spPr>
          <a:xfrm>
            <a:off x="3227832"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143000"/>
            <a:ext cx="2414016" cy="1965960"/>
          </a:xfrm>
          <a:prstGeom prst="rect">
            <a:avLst/>
          </a:prstGeom>
          <a:noFill/>
        </p:spPr>
        <p:txBody>
          <a:bodyPr wrap="square">
            <a:spAutoFit/>
          </a:bodyPr>
          <a:lstStyle/>
          <a:p>
            <a:pPr>
              <a:defRPr sz="1250" b="1">
                <a:solidFill>
                  <a:srgbClr val="1B365D"/>
                </a:solidFill>
                <a:latin typeface="Calibri"/>
              </a:defRPr>
            </a:pPr>
            <a:r>
              <a:t>1 - Tái chế khô (Recyclable)</a:t>
            </a:r>
          </a:p>
          <a:p>
            <a:pPr>
              <a:spcBef>
                <a:spcPts val="300"/>
              </a:spcBef>
              <a:defRPr sz="950">
                <a:solidFill>
                  <a:srgbClr val="222831"/>
                </a:solidFill>
                <a:latin typeface="Calibri"/>
              </a:defRPr>
            </a:pPr>
            <a:r>
              <a:t>Chai nhựa PET ráo nước, lon nhôm, hộp sữa tiệt trùng, thùng bìa carton sạch khô</a:t>
            </a:r>
          </a:p>
          <a:p>
            <a:pPr>
              <a:spcBef>
                <a:spcPts val="400"/>
              </a:spcBef>
              <a:defRPr sz="900">
                <a:solidFill>
                  <a:srgbClr val="5A6E7F"/>
                </a:solidFill>
                <a:latin typeface="Calibri"/>
              </a:defRPr>
            </a:pPr>
            <a:r>
              <a:t>Quy trình: Thu gom ép kiện bán tái chế công nghiệp.</a:t>
            </a:r>
            <a:br/>
            <a:r>
              <a:t>Yêu cầu: Bắt buộc sạch, đã uống cạn, ráo nước, không dính dầu mỡ thực phẩm.</a:t>
            </a:r>
          </a:p>
        </p:txBody>
      </p:sp>
      <p:sp>
        <p:nvSpPr>
          <p:cNvPr id="9" name="Rounded Rectangle 8"/>
          <p:cNvSpPr/>
          <p:nvPr/>
        </p:nvSpPr>
        <p:spPr>
          <a:xfrm>
            <a:off x="5952744"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1143000"/>
            <a:ext cx="2414016" cy="1965960"/>
          </a:xfrm>
          <a:prstGeom prst="rect">
            <a:avLst/>
          </a:prstGeom>
          <a:noFill/>
        </p:spPr>
        <p:txBody>
          <a:bodyPr wrap="square">
            <a:spAutoFit/>
          </a:bodyPr>
          <a:lstStyle/>
          <a:p>
            <a:pPr>
              <a:defRPr sz="1250" b="1">
                <a:solidFill>
                  <a:srgbClr val="1B365D"/>
                </a:solidFill>
                <a:latin typeface="Calibri"/>
              </a:defRPr>
            </a:pPr>
            <a:r>
              <a:t>2 - Còn lại (Other / Landfill)</a:t>
            </a:r>
          </a:p>
          <a:p>
            <a:pPr>
              <a:spcBef>
                <a:spcPts val="300"/>
              </a:spcBef>
              <a:defRPr sz="950">
                <a:solidFill>
                  <a:srgbClr val="222831"/>
                </a:solidFill>
                <a:latin typeface="Calibri"/>
              </a:defRPr>
            </a:pPr>
            <a:r>
              <a:t>Hộp xốp dính dầu, ly nhựa trà sữa dính đá, muỗng nĩa nhựa 1 lần, khăn giấy bẩn</a:t>
            </a:r>
          </a:p>
          <a:p>
            <a:pPr>
              <a:spcBef>
                <a:spcPts val="400"/>
              </a:spcBef>
              <a:defRPr sz="900">
                <a:solidFill>
                  <a:srgbClr val="5A6E7F"/>
                </a:solidFill>
                <a:latin typeface="Calibri"/>
              </a:defRPr>
            </a:pPr>
            <a:r>
              <a:t>Quy trình: Đưa đi chôn lấp hoặc đốt rác phát điện.</a:t>
            </a:r>
            <a:br/>
            <a:r>
              <a:t>Yêu cầu: Rác phức hợp, bám dầu mỡ thức ăn, chi phí thu hồi tái chế quá cao.</a:t>
            </a:r>
          </a:p>
        </p:txBody>
      </p:sp>
      <p:sp>
        <p:nvSpPr>
          <p:cNvPr id="11" name="TextBox 10"/>
          <p:cNvSpPr txBox="1"/>
          <p:nvPr/>
        </p:nvSpPr>
        <p:spPr>
          <a:xfrm>
            <a:off x="502920" y="3337560"/>
            <a:ext cx="8092440" cy="1371600"/>
          </a:xfrm>
          <a:prstGeom prst="rect">
            <a:avLst/>
          </a:prstGeom>
          <a:noFill/>
        </p:spPr>
        <p:txBody>
          <a:bodyPr wrap="square">
            <a:spAutoFit/>
          </a:bodyPr>
          <a:lstStyle/>
          <a:p>
            <a:pPr>
              <a:spcBef>
                <a:spcPts val="300"/>
              </a:spcBef>
              <a:defRPr sz="1000">
                <a:solidFill>
                  <a:srgbClr val="222831"/>
                </a:solidFill>
                <a:latin typeface="Calibri"/>
              </a:defRPr>
            </a:pPr>
            <a:r>
              <a:rPr b="1">
                <a:solidFill>
                  <a:srgbClr val="1B365D"/>
                </a:solidFill>
              </a:rPr>
              <a:t>• Nguyên tắc cốt lõi về nhiễm bẩn (Contamination Rule): 'Nếu nghi ngờ vật phẩm gây nhiễm bẩn dây chuyền tái chế -&gt; Bắt buộc xếp vào nhóm Còn lại (other_landfill)'. Tránh làm hỏng toàn bộ mẻ rác tái chế.</a:t>
            </a:r>
          </a:p>
          <a:p>
            <a:pPr>
              <a:spcBef>
                <a:spcPts val="300"/>
              </a:spcBef>
              <a:defRPr sz="1000">
                <a:solidFill>
                  <a:srgbClr val="222831"/>
                </a:solidFill>
                <a:latin typeface="Calibri"/>
              </a:defRPr>
            </a:pPr>
            <a:r>
              <a:rPr b="1">
                <a:solidFill>
                  <a:srgbClr val="1B365D"/>
                </a:solidFill>
              </a:rPr>
              <a:t>• Xử lý ca ranh giới điển hình: Ly trà sữa/nước ngọt còn đá/trân châu -&gt; Còn lại (chất lỏng làm mốc giấy/nhựa sạch); Hộp xốp thực phẩm dính mỡ -&gt; Còn lại; Chai PET cạn nước còn nhãn -&gt; Tái chế.</a:t>
            </a:r>
          </a:p>
          <a:p>
            <a:pPr>
              <a:spcBef>
                <a:spcPts val="300"/>
              </a:spcBef>
              <a:defRPr sz="1000">
                <a:solidFill>
                  <a:srgbClr val="222831"/>
                </a:solidFill>
                <a:latin typeface="Calibri"/>
              </a:defRPr>
            </a:pPr>
            <a:r>
              <a:rPr b="1">
                <a:solidFill>
                  <a:srgbClr val="1B365D"/>
                </a:solidFill>
              </a:rPr>
              <a:t>• Lớp bổ sung (Lớp 3: Background): Đại diện cho mặt bàn, mép khay rỗng, dụng cụ ăn uống tái sử dụng của trường học (thìa dĩa inox). Classifier nhận diện lớp này để không đếm nhầm vào rác.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Quy trình Tiền xử lý, Làm sạch &amp; Chuẩn hóa Dữ liệu (Data Pipeline)</a:t>
            </a:r>
          </a:p>
          <a:p>
            <a:pPr>
              <a:spcBef>
                <a:spcPts val="200"/>
              </a:spcBef>
              <a:defRPr sz="1050">
                <a:solidFill>
                  <a:srgbClr val="5A6E7F"/>
                </a:solidFill>
                <a:latin typeface="Calibri"/>
              </a:defRPr>
            </a:pPr>
            <a:r>
              <a:t>Từ dữ liệu ảnh thô đến tập dữ liệu sẵn sàng huấn luyện: Lọc trùng 2 tầng và chuẩn hóa định dạng</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4/8</a:t>
            </a:r>
          </a:p>
        </p:txBody>
      </p:sp>
      <p:sp>
        <p:nvSpPr>
          <p:cNvPr id="5" name="Rounded Rectangle 4"/>
          <p:cNvSpPr/>
          <p:nvPr/>
        </p:nvSpPr>
        <p:spPr>
          <a:xfrm>
            <a:off x="502920"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143000"/>
            <a:ext cx="2414016" cy="1965960"/>
          </a:xfrm>
          <a:prstGeom prst="rect">
            <a:avLst/>
          </a:prstGeom>
          <a:noFill/>
        </p:spPr>
        <p:txBody>
          <a:bodyPr wrap="square">
            <a:spAutoFit/>
          </a:bodyPr>
          <a:lstStyle/>
          <a:p>
            <a:pPr>
              <a:defRPr sz="1200" b="1">
                <a:solidFill>
                  <a:srgbClr val="1B365D"/>
                </a:solidFill>
                <a:latin typeface="Calibri"/>
              </a:defRPr>
            </a:pPr>
            <a:r>
              <a:t>1. Lọc trùng lặp 2 tầng</a:t>
            </a:r>
          </a:p>
          <a:p>
            <a:pPr>
              <a:spcBef>
                <a:spcPts val="200"/>
              </a:spcBef>
              <a:defRPr sz="950" b="1">
                <a:solidFill>
                  <a:srgbClr val="1B8A5A"/>
                </a:solidFill>
                <a:latin typeface="Calibri"/>
              </a:defRPr>
            </a:pPr>
            <a:r>
              <a:t>Deduplication Pipeline</a:t>
            </a:r>
          </a:p>
          <a:p>
            <a:pPr>
              <a:spcBef>
                <a:spcPts val="400"/>
              </a:spcBef>
              <a:defRPr sz="900">
                <a:solidFill>
                  <a:srgbClr val="222831"/>
                </a:solidFill>
                <a:latin typeface="Calibri"/>
              </a:defRPr>
            </a:pPr>
            <a:r>
              <a:t>• MD5 Checksum: Quét xóa 100% các file ảnh bị trùng lặp vật lý bit-by-bit khi cào hoặc gom về.</a:t>
            </a:r>
            <a:br/>
            <a:r>
              <a:t>• Perceptual Hash (pHash): Phát hiện các ảnh 'gần như giống hệt' (ngưỡng Hamming &lt;= 5) do chụp liên tiếp ở góc máy cách nhau vài milimet hoặc crop nhẹ.</a:t>
            </a:r>
          </a:p>
        </p:txBody>
      </p:sp>
      <p:sp>
        <p:nvSpPr>
          <p:cNvPr id="7" name="Rounded Rectangle 6"/>
          <p:cNvSpPr/>
          <p:nvPr/>
        </p:nvSpPr>
        <p:spPr>
          <a:xfrm>
            <a:off x="3227832"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143000"/>
            <a:ext cx="2414016" cy="1965960"/>
          </a:xfrm>
          <a:prstGeom prst="rect">
            <a:avLst/>
          </a:prstGeom>
          <a:noFill/>
        </p:spPr>
        <p:txBody>
          <a:bodyPr wrap="square">
            <a:spAutoFit/>
          </a:bodyPr>
          <a:lstStyle/>
          <a:p>
            <a:pPr>
              <a:defRPr sz="1200" b="1">
                <a:solidFill>
                  <a:srgbClr val="1B365D"/>
                </a:solidFill>
                <a:latin typeface="Calibri"/>
              </a:defRPr>
            </a:pPr>
            <a:r>
              <a:t>2. Chuẩn hóa Định dạng</a:t>
            </a:r>
          </a:p>
          <a:p>
            <a:pPr>
              <a:spcBef>
                <a:spcPts val="200"/>
              </a:spcBef>
              <a:defRPr sz="950" b="1">
                <a:solidFill>
                  <a:srgbClr val="1B8A5A"/>
                </a:solidFill>
                <a:latin typeface="Calibri"/>
              </a:defRPr>
            </a:pPr>
            <a:r>
              <a:t>Format &amp; Resolution</a:t>
            </a:r>
          </a:p>
          <a:p>
            <a:pPr>
              <a:spcBef>
                <a:spcPts val="400"/>
              </a:spcBef>
              <a:defRPr sz="900">
                <a:solidFill>
                  <a:srgbClr val="222831"/>
                </a:solidFill>
                <a:latin typeface="Calibri"/>
              </a:defRPr>
            </a:pPr>
            <a:r>
              <a:t>• Chuyển đổi toàn bộ ảnh sang không gian màu chuẩn RGB.</a:t>
            </a:r>
            <a:br/>
            <a:r>
              <a:t>• Đưa về kích thước cơ bản 256x256 lưu trữ trực tiếp trên SSD tốc độ cao để triệt tiêu nghẽn cổ chai I/O khi nạp DataLoader GPU.</a:t>
            </a:r>
            <a:br/>
            <a:r>
              <a:t>• Ảnh crop huấn luyện CNN chuẩn hóa 224x224.</a:t>
            </a:r>
          </a:p>
        </p:txBody>
      </p:sp>
      <p:sp>
        <p:nvSpPr>
          <p:cNvPr id="9" name="Rounded Rectangle 8"/>
          <p:cNvSpPr/>
          <p:nvPr/>
        </p:nvSpPr>
        <p:spPr>
          <a:xfrm>
            <a:off x="5952744" y="1051560"/>
            <a:ext cx="2633472" cy="214884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1143000"/>
            <a:ext cx="2414016" cy="1965960"/>
          </a:xfrm>
          <a:prstGeom prst="rect">
            <a:avLst/>
          </a:prstGeom>
          <a:noFill/>
        </p:spPr>
        <p:txBody>
          <a:bodyPr wrap="square">
            <a:spAutoFit/>
          </a:bodyPr>
          <a:lstStyle/>
          <a:p>
            <a:pPr>
              <a:defRPr sz="1200" b="1">
                <a:solidFill>
                  <a:srgbClr val="1B365D"/>
                </a:solidFill>
                <a:latin typeface="Calibri"/>
              </a:defRPr>
            </a:pPr>
            <a:r>
              <a:t>3. Chuẩn hóa Bounding Box</a:t>
            </a:r>
          </a:p>
          <a:p>
            <a:pPr>
              <a:spcBef>
                <a:spcPts val="200"/>
              </a:spcBef>
              <a:defRPr sz="950" b="1">
                <a:solidFill>
                  <a:srgbClr val="1B8A5A"/>
                </a:solidFill>
                <a:latin typeface="Calibri"/>
              </a:defRPr>
            </a:pPr>
            <a:r>
              <a:t>YOLO Format [0, 1]</a:t>
            </a:r>
          </a:p>
          <a:p>
            <a:pPr>
              <a:spcBef>
                <a:spcPts val="400"/>
              </a:spcBef>
              <a:defRPr sz="900">
                <a:solidFill>
                  <a:srgbClr val="222831"/>
                </a:solidFill>
                <a:latin typeface="Calibri"/>
              </a:defRPr>
            </a:pPr>
            <a:r>
              <a:t>• Toàn bộ tọa độ vật thể được chuẩn hóa về định dạng YOLO txt: &lt;class_id&gt; &lt;x_center&gt; &lt;y_center&gt; &lt;w&gt; &lt;h&gt; theo tỉ lệ [0.0, 1.0].</a:t>
            </a:r>
            <a:br/>
            <a:r>
              <a:t>• Với Detector D1: Toàn bộ nhãn chi tiết được gộp thành 1 lớp duy nhất (class 0: waste, class-agnostic).</a:t>
            </a:r>
          </a:p>
        </p:txBody>
      </p:sp>
      <p:sp>
        <p:nvSpPr>
          <p:cNvPr id="11" name="TextBox 10"/>
          <p:cNvSpPr txBox="1"/>
          <p:nvPr/>
        </p:nvSpPr>
        <p:spPr>
          <a:xfrm>
            <a:off x="502920" y="3337560"/>
            <a:ext cx="8092440" cy="1371600"/>
          </a:xfrm>
          <a:prstGeom prst="rect">
            <a:avLst/>
          </a:prstGeom>
          <a:noFill/>
        </p:spPr>
        <p:txBody>
          <a:bodyPr wrap="square">
            <a:spAutoFit/>
          </a:bodyPr>
          <a:lstStyle/>
          <a:p>
            <a:pPr>
              <a:spcBef>
                <a:spcPts val="300"/>
              </a:spcBef>
              <a:defRPr sz="1000">
                <a:solidFill>
                  <a:srgbClr val="222831"/>
                </a:solidFill>
                <a:latin typeface="Calibri"/>
              </a:defRPr>
            </a:pPr>
            <a:r>
              <a:rPr b="1">
                <a:solidFill>
                  <a:srgbClr val="1B365D"/>
                </a:solidFill>
              </a:rPr>
              <a:t>• Nhiễu hình học khi Crop (Crop Jitter Augmentation): Khi train Classifier, áp dụng dịch tâm ngẫu nhiên (+-10%) và thay đổi tỉ lệ (+-15%) của Bounding Box để Classifier thích nghi tốt với sai số phát hiện của Detector.</a:t>
            </a:r>
          </a:p>
          <a:p>
            <a:pPr>
              <a:spcBef>
                <a:spcPts val="300"/>
              </a:spcBef>
              <a:defRPr sz="1000">
                <a:solidFill>
                  <a:srgbClr val="222831"/>
                </a:solidFill>
                <a:latin typeface="Calibri"/>
              </a:defRPr>
            </a:pPr>
            <a:r>
              <a:rPr b="1">
                <a:solidFill>
                  <a:srgbClr val="1B365D"/>
                </a:solidFill>
              </a:rPr>
              <a:t>• Tối ưu hóa DataLoader trên Laptop RTX 4050: Bật tính toán dấu phẩy động hỗn hợp (AMP FP16), bộ nhớ định dạng channels_last và 2-4 dataloader workers; giúp tốc độ huấn luyện đạt ~38 giây/epoch trên 1.200 ảnh.</a:t>
            </a:r>
          </a:p>
          <a:p>
            <a:pPr>
              <a:spcBef>
                <a:spcPts val="300"/>
              </a:spcBef>
              <a:defRPr sz="1000">
                <a:solidFill>
                  <a:srgbClr val="222831"/>
                </a:solidFill>
                <a:latin typeface="Calibri"/>
              </a:defRPr>
            </a:pPr>
            <a:r>
              <a:rPr b="1">
                <a:solidFill>
                  <a:srgbClr val="1B365D"/>
                </a:solidFill>
              </a:rPr>
              <a:t>• Kiểm soát rò rỉ rạch ròi: Không để bất kỳ ảnh/vật thể trùng lặp nào xuất hiện đồng thời ở cả tập Train và tập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Chiến lược Đa nguồn Dữ liệu Phục vụ Pipeline 2 Giai Đoạn</a:t>
            </a:r>
          </a:p>
          <a:p>
            <a:pPr>
              <a:spcBef>
                <a:spcPts val="200"/>
              </a:spcBef>
              <a:defRPr sz="1050">
                <a:solidFill>
                  <a:srgbClr val="5A6E7F"/>
                </a:solidFill>
                <a:latin typeface="Calibri"/>
              </a:defRPr>
            </a:pPr>
            <a:r>
              <a:t>Kết hợp dữ liệu công khai quy mô lớn, dữ liệu khay ăn thực tế và dữ liệu tổng hợp Copy-Paste</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5/8</a:t>
            </a:r>
          </a:p>
        </p:txBody>
      </p:sp>
      <p:graphicFrame>
        <p:nvGraphicFramePr>
          <p:cNvPr id="5" name="Table 4"/>
          <p:cNvGraphicFramePr>
            <a:graphicFrameLocks noGrp="1"/>
          </p:cNvGraphicFramePr>
          <p:nvPr/>
        </p:nvGraphicFramePr>
        <p:xfrm>
          <a:off x="502920" y="1051560"/>
          <a:ext cx="8092440" cy="2011680"/>
        </p:xfrm>
        <a:graphic>
          <a:graphicData uri="http://schemas.openxmlformats.org/drawingml/2006/table">
            <a:tbl>
              <a:tblPr firstRow="1" bandRow="1">
                <a:tableStyleId>{5C22544A-7EE6-4342-B048-85BDC9FD1C3A}</a:tableStyleId>
              </a:tblPr>
              <a:tblGrid>
                <a:gridCol w="2011680"/>
                <a:gridCol w="1371600"/>
                <a:gridCol w="2011680"/>
                <a:gridCol w="2697480"/>
              </a:tblGrid>
              <a:tr h="402336">
                <a:tc>
                  <a:txBody>
                    <a:bodyPr/>
                    <a:lstStyle/>
                    <a:p>
                      <a:pPr algn="ctr">
                        <a:defRPr sz="1000" b="1">
                          <a:solidFill>
                            <a:srgbClr val="FFFFFF"/>
                          </a:solidFill>
                          <a:latin typeface="Calibri"/>
                        </a:defRPr>
                      </a:pPr>
                      <a:r>
                        <a:t>Nguồn Dữ liệu</a:t>
                      </a:r>
                    </a:p>
                  </a:txBody>
                  <a:tcPr>
                    <a:solidFill>
                      <a:srgbClr val="1B365D"/>
                    </a:solidFill>
                  </a:tcPr>
                </a:tc>
                <a:tc>
                  <a:txBody>
                    <a:bodyPr/>
                    <a:lstStyle/>
                    <a:p>
                      <a:pPr algn="ctr">
                        <a:defRPr sz="1000" b="1">
                          <a:solidFill>
                            <a:srgbClr val="FFFFFF"/>
                          </a:solidFill>
                          <a:latin typeface="Calibri"/>
                        </a:defRPr>
                      </a:pPr>
                      <a:r>
                        <a:t>Quy mô</a:t>
                      </a:r>
                    </a:p>
                  </a:txBody>
                  <a:tcPr>
                    <a:solidFill>
                      <a:srgbClr val="1B365D"/>
                    </a:solidFill>
                  </a:tcPr>
                </a:tc>
                <a:tc>
                  <a:txBody>
                    <a:bodyPr/>
                    <a:lstStyle/>
                    <a:p>
                      <a:pPr algn="ctr">
                        <a:defRPr sz="1000" b="1">
                          <a:solidFill>
                            <a:srgbClr val="FFFFFF"/>
                          </a:solidFill>
                          <a:latin typeface="Calibri"/>
                        </a:defRPr>
                      </a:pPr>
                      <a:r>
                        <a:t>Đặc điểm &amp; Xử lý</a:t>
                      </a:r>
                    </a:p>
                  </a:txBody>
                  <a:tcPr>
                    <a:solidFill>
                      <a:srgbClr val="1B365D"/>
                    </a:solidFill>
                  </a:tcPr>
                </a:tc>
                <a:tc>
                  <a:txBody>
                    <a:bodyPr/>
                    <a:lstStyle/>
                    <a:p>
                      <a:pPr algn="ctr">
                        <a:defRPr sz="1000" b="1">
                          <a:solidFill>
                            <a:srgbClr val="FFFFFF"/>
                          </a:solidFill>
                          <a:latin typeface="Calibri"/>
                        </a:defRPr>
                      </a:pPr>
                      <a:r>
                        <a:t>Vai trò trong Pipeline</a:t>
                      </a:r>
                    </a:p>
                  </a:txBody>
                  <a:tcPr>
                    <a:solidFill>
                      <a:srgbClr val="1B365D"/>
                    </a:solidFill>
                  </a:tcPr>
                </a:tc>
              </a:tr>
              <a:tr h="402336">
                <a:tc>
                  <a:txBody>
                    <a:bodyPr/>
                    <a:lstStyle/>
                    <a:p>
                      <a:pPr>
                        <a:defRPr sz="900">
                          <a:solidFill>
                            <a:srgbClr val="222831"/>
                          </a:solidFill>
                          <a:latin typeface="Calibri"/>
                        </a:defRPr>
                      </a:pPr>
                      <a:r>
                        <a:t>1. Kaggle 30-class</a:t>
                      </a:r>
                      <a:br/>
                      <a:r>
                        <a:t>(Household Waste)</a:t>
                      </a:r>
                    </a:p>
                  </a:txBody>
                  <a:tcPr>
                    <a:solidFill>
                      <a:srgbClr val="F0F4F8"/>
                    </a:solidFill>
                  </a:tcPr>
                </a:tc>
                <a:tc>
                  <a:txBody>
                    <a:bodyPr/>
                    <a:lstStyle/>
                    <a:p>
                      <a:pPr algn="ctr">
                        <a:defRPr sz="900">
                          <a:solidFill>
                            <a:srgbClr val="222831"/>
                          </a:solidFill>
                          <a:latin typeface="Calibri"/>
                        </a:defRPr>
                      </a:pPr>
                      <a:r>
                        <a:t>15.000 ảnh</a:t>
                      </a:r>
                      <a:br/>
                      <a:r>
                        <a:t>(30 lớp mịn)</a:t>
                      </a:r>
                    </a:p>
                  </a:txBody>
                  <a:tcPr>
                    <a:solidFill>
                      <a:srgbClr val="F0F4F8"/>
                    </a:solidFill>
                  </a:tcPr>
                </a:tc>
                <a:tc>
                  <a:txBody>
                    <a:bodyPr/>
                    <a:lstStyle/>
                    <a:p>
                      <a:pPr>
                        <a:defRPr sz="900">
                          <a:solidFill>
                            <a:srgbClr val="222831"/>
                          </a:solidFill>
                          <a:latin typeface="Calibri"/>
                        </a:defRPr>
                      </a:pPr>
                      <a:r>
                        <a:t>Rác đơn lẻ chụp studio &amp; đời thực, 500 ảnh/lớp, chia 85/15</a:t>
                      </a:r>
                    </a:p>
                  </a:txBody>
                  <a:tcPr>
                    <a:solidFill>
                      <a:srgbClr val="F0F4F8"/>
                    </a:solidFill>
                  </a:tcPr>
                </a:tc>
                <a:tc>
                  <a:txBody>
                    <a:bodyPr/>
                    <a:lstStyle/>
                    <a:p>
                      <a:pPr>
                        <a:defRPr sz="900">
                          <a:solidFill>
                            <a:srgbClr val="222831"/>
                          </a:solidFill>
                          <a:latin typeface="Calibri"/>
                        </a:defRPr>
                      </a:pPr>
                      <a:r>
                        <a:t>Huấn luyện Teacher &amp; KD Classifier (M0-M4) theo cơ chế Fine-to-Coarse</a:t>
                      </a:r>
                    </a:p>
                  </a:txBody>
                  <a:tcPr>
                    <a:solidFill>
                      <a:srgbClr val="F0F4F8"/>
                    </a:solidFill>
                  </a:tcPr>
                </a:tc>
              </a:tr>
              <a:tr h="402336">
                <a:tc>
                  <a:txBody>
                    <a:bodyPr/>
                    <a:lstStyle/>
                    <a:p>
                      <a:pPr>
                        <a:defRPr sz="900">
                          <a:solidFill>
                            <a:srgbClr val="222831"/>
                          </a:solidFill>
                          <a:latin typeface="Calibri"/>
                        </a:defRPr>
                      </a:pPr>
                      <a:r>
                        <a:t>2. TACO Dataset</a:t>
                      </a:r>
                      <a:br/>
                      <a:r>
                        <a:t>(Trash Annotations)</a:t>
                      </a:r>
                    </a:p>
                  </a:txBody>
                  <a:tcPr>
                    <a:solidFill>
                      <a:srgbClr val="FFFFFF"/>
                    </a:solidFill>
                  </a:tcPr>
                </a:tc>
                <a:tc>
                  <a:txBody>
                    <a:bodyPr/>
                    <a:lstStyle/>
                    <a:p>
                      <a:pPr algn="ctr">
                        <a:defRPr sz="900">
                          <a:solidFill>
                            <a:srgbClr val="222831"/>
                          </a:solidFill>
                          <a:latin typeface="Calibri"/>
                        </a:defRPr>
                      </a:pPr>
                      <a:r>
                        <a:t>1.500 ảnh</a:t>
                      </a:r>
                      <a:br/>
                      <a:r>
                        <a:t>(4.784 BBox)</a:t>
                      </a:r>
                    </a:p>
                  </a:txBody>
                  <a:tcPr>
                    <a:solidFill>
                      <a:srgbClr val="FFFFFF"/>
                    </a:solidFill>
                  </a:tcPr>
                </a:tc>
                <a:tc>
                  <a:txBody>
                    <a:bodyPr/>
                    <a:lstStyle/>
                    <a:p>
                      <a:pPr>
                        <a:defRPr sz="900">
                          <a:solidFill>
                            <a:srgbClr val="222831"/>
                          </a:solidFill>
                          <a:latin typeface="Calibri"/>
                        </a:defRPr>
                      </a:pPr>
                      <a:r>
                        <a:t>Rác đa vật thể ngoài thực tế, gộp về 1 lớp waste, chia 80/20</a:t>
                      </a:r>
                    </a:p>
                  </a:txBody>
                  <a:tcPr>
                    <a:solidFill>
                      <a:srgbClr val="FFFFFF"/>
                    </a:solidFill>
                  </a:tcPr>
                </a:tc>
                <a:tc>
                  <a:txBody>
                    <a:bodyPr/>
                    <a:lstStyle/>
                    <a:p>
                      <a:pPr>
                        <a:defRPr sz="900">
                          <a:solidFill>
                            <a:srgbClr val="222831"/>
                          </a:solidFill>
                          <a:latin typeface="Calibri"/>
                        </a:defRPr>
                      </a:pPr>
                      <a:r>
                        <a:t>Pretrain Detector D1(a) học khái niệm 'vật rác' (đã hoàn thành 50 epoch, mAP50=51.1%)</a:t>
                      </a:r>
                    </a:p>
                  </a:txBody>
                  <a:tcPr>
                    <a:solidFill>
                      <a:srgbClr val="FFFFFF"/>
                    </a:solidFill>
                  </a:tcPr>
                </a:tc>
              </a:tr>
              <a:tr h="402336">
                <a:tc>
                  <a:txBody>
                    <a:bodyPr/>
                    <a:lstStyle/>
                    <a:p>
                      <a:pPr>
                        <a:defRPr sz="900">
                          <a:solidFill>
                            <a:srgbClr val="222831"/>
                          </a:solidFill>
                          <a:latin typeface="Calibri"/>
                        </a:defRPr>
                      </a:pPr>
                      <a:r>
                        <a:t>3. Padova Canteen</a:t>
                      </a:r>
                      <a:br/>
                      <a:r>
                        <a:t>(Food Recognition)</a:t>
                      </a:r>
                    </a:p>
                  </a:txBody>
                  <a:tcPr>
                    <a:solidFill>
                      <a:srgbClr val="F0F4F8"/>
                    </a:solidFill>
                  </a:tcPr>
                </a:tc>
                <a:tc>
                  <a:txBody>
                    <a:bodyPr/>
                    <a:lstStyle/>
                    <a:p>
                      <a:pPr algn="ctr">
                        <a:defRPr sz="900">
                          <a:solidFill>
                            <a:srgbClr val="222831"/>
                          </a:solidFill>
                          <a:latin typeface="Calibri"/>
                        </a:defRPr>
                      </a:pPr>
                      <a:r>
                        <a:t>74 ảnh khay</a:t>
                      </a:r>
                      <a:br/>
                      <a:r>
                        <a:t>(14 món ăn)</a:t>
                      </a:r>
                    </a:p>
                  </a:txBody>
                  <a:tcPr>
                    <a:solidFill>
                      <a:srgbClr val="F0F4F8"/>
                    </a:solidFill>
                  </a:tcPr>
                </a:tc>
                <a:tc>
                  <a:txBody>
                    <a:bodyPr/>
                    <a:lstStyle/>
                    <a:p>
                      <a:pPr>
                        <a:defRPr sz="900">
                          <a:solidFill>
                            <a:srgbClr val="222831"/>
                          </a:solidFill>
                          <a:latin typeface="Calibri"/>
                        </a:defRPr>
                      </a:pPr>
                      <a:r>
                        <a:t>Khay ăn canteen thật, có BBox thức ăn thừa (leftovers)</a:t>
                      </a:r>
                    </a:p>
                  </a:txBody>
                  <a:tcPr>
                    <a:solidFill>
                      <a:srgbClr val="F0F4F8"/>
                    </a:solidFill>
                  </a:tcPr>
                </a:tc>
                <a:tc>
                  <a:txBody>
                    <a:bodyPr/>
                    <a:lstStyle/>
                    <a:p>
                      <a:pPr>
                        <a:defRPr sz="900">
                          <a:solidFill>
                            <a:srgbClr val="222831"/>
                          </a:solidFill>
                          <a:latin typeface="Calibri"/>
                        </a:defRPr>
                      </a:pPr>
                      <a:r>
                        <a:t>Bổ sung dữ liệu đồ ăn thừa (Hữu cơ) cho Detector, bù đắp chỗ thiếu của TACO</a:t>
                      </a:r>
                    </a:p>
                  </a:txBody>
                  <a:tcPr>
                    <a:solidFill>
                      <a:srgbClr val="F0F4F8"/>
                    </a:solidFill>
                  </a:tcPr>
                </a:tc>
              </a:tr>
              <a:tr h="402336">
                <a:tc>
                  <a:txBody>
                    <a:bodyPr/>
                    <a:lstStyle/>
                    <a:p>
                      <a:pPr>
                        <a:defRPr sz="900">
                          <a:solidFill>
                            <a:srgbClr val="222831"/>
                          </a:solidFill>
                          <a:latin typeface="Calibri"/>
                        </a:defRPr>
                      </a:pPr>
                      <a:r>
                        <a:t>4. Copy-Paste Trays</a:t>
                      </a:r>
                      <a:br/>
                      <a:r>
                        <a:t>(Ảnh ghép tổng hợp)</a:t>
                      </a:r>
                    </a:p>
                  </a:txBody>
                  <a:tcPr>
                    <a:solidFill>
                      <a:srgbClr val="FFFFFF"/>
                    </a:solidFill>
                  </a:tcPr>
                </a:tc>
                <a:tc>
                  <a:txBody>
                    <a:bodyPr/>
                    <a:lstStyle/>
                    <a:p>
                      <a:pPr algn="ctr">
                        <a:defRPr sz="900">
                          <a:solidFill>
                            <a:srgbClr val="222831"/>
                          </a:solidFill>
                          <a:latin typeface="Calibri"/>
                        </a:defRPr>
                      </a:pPr>
                      <a:r>
                        <a:t>1.000+ ảnh</a:t>
                      </a:r>
                      <a:br/>
                      <a:r>
                        <a:t>(tự sinh)</a:t>
                      </a:r>
                    </a:p>
                  </a:txBody>
                  <a:tcPr>
                    <a:solidFill>
                      <a:srgbClr val="FFFFFF"/>
                    </a:solidFill>
                  </a:tcPr>
                </a:tc>
                <a:tc>
                  <a:txBody>
                    <a:bodyPr/>
                    <a:lstStyle/>
                    <a:p>
                      <a:pPr>
                        <a:defRPr sz="900">
                          <a:solidFill>
                            <a:srgbClr val="222831"/>
                          </a:solidFill>
                          <a:latin typeface="Calibri"/>
                        </a:defRPr>
                      </a:pPr>
                      <a:r>
                        <a:t>Ghép 3-6 vật Kaggle lên ảnh nền khay ăn canteen, IoU &lt;= 0.3</a:t>
                      </a:r>
                    </a:p>
                  </a:txBody>
                  <a:tcPr>
                    <a:solidFill>
                      <a:srgbClr val="FFFFFF"/>
                    </a:solidFill>
                  </a:tcPr>
                </a:tc>
                <a:tc>
                  <a:txBody>
                    <a:bodyPr/>
                    <a:lstStyle/>
                    <a:p>
                      <a:pPr>
                        <a:defRPr sz="900">
                          <a:solidFill>
                            <a:srgbClr val="222831"/>
                          </a:solidFill>
                          <a:latin typeface="Calibri"/>
                        </a:defRPr>
                      </a:pPr>
                      <a:r>
                        <a:t>Huấn luyện trung gian D1(b) mô phỏng khay rác trước khi có đủ ảnh thật</a:t>
                      </a:r>
                    </a:p>
                  </a:txBody>
                  <a:tcPr>
                    <a:solidFill>
                      <a:srgbClr val="FFFFFF"/>
                    </a:solidFill>
                  </a:tcPr>
                </a:tc>
              </a:tr>
            </a:tbl>
          </a:graphicData>
        </a:graphic>
      </p:graphicFrame>
      <p:sp>
        <p:nvSpPr>
          <p:cNvPr id="6" name="TextBox 5"/>
          <p:cNvSpPr txBox="1"/>
          <p:nvPr/>
        </p:nvSpPr>
        <p:spPr>
          <a:xfrm>
            <a:off x="502920" y="3291840"/>
            <a:ext cx="8092440" cy="1371600"/>
          </a:xfrm>
          <a:prstGeom prst="rect">
            <a:avLst/>
          </a:prstGeom>
          <a:noFill/>
        </p:spPr>
        <p:txBody>
          <a:bodyPr wrap="square">
            <a:spAutoFit/>
          </a:bodyPr>
          <a:lstStyle/>
          <a:p>
            <a:pPr>
              <a:spcBef>
                <a:spcPts val="300"/>
              </a:spcBef>
              <a:defRPr sz="1000">
                <a:solidFill>
                  <a:srgbClr val="222831"/>
                </a:solidFill>
                <a:latin typeface="Calibri"/>
              </a:defRPr>
            </a:pPr>
            <a:r>
              <a:rPr b="1">
                <a:solidFill>
                  <a:srgbClr val="1B365D"/>
                </a:solidFill>
              </a:rPr>
              <a:t>• Giải quyết triệt để rủi ro thiếu dữ liệu Hữu cơ: TACO có điểm yếu là ít đồ ăn thừa. Nhóm đã bổ sung bộ khay canteen Padova và các vật thể thực phẩm Kaggle để Detector nhận diện tốt cả cơm/canh/thịt cá thừa.</a:t>
            </a:r>
          </a:p>
          <a:p>
            <a:pPr>
              <a:spcBef>
                <a:spcPts val="300"/>
              </a:spcBef>
              <a:defRPr sz="1000">
                <a:solidFill>
                  <a:srgbClr val="222831"/>
                </a:solidFill>
                <a:latin typeface="Calibri"/>
              </a:defRPr>
            </a:pPr>
            <a:r>
              <a:rPr b="1">
                <a:solidFill>
                  <a:srgbClr val="1B365D"/>
                </a:solidFill>
              </a:rPr>
              <a:t>• Dữ liệu Canteen Việt Nam thật (50-60 khay): Được bảo lưu độc lập làm tập Kiểm thử cuối cùng (Test Canteen đóng băng) và Thích nghi ít mẫu Few-shot (RQ2), đảm bảo tính thực tiễn tại trường.</a:t>
            </a:r>
          </a:p>
          <a:p>
            <a:pPr>
              <a:spcBef>
                <a:spcPts val="300"/>
              </a:spcBef>
              <a:defRPr sz="1000">
                <a:solidFill>
                  <a:srgbClr val="222831"/>
                </a:solidFill>
                <a:latin typeface="Calibri"/>
              </a:defRPr>
            </a:pPr>
            <a:r>
              <a:rPr b="1">
                <a:solidFill>
                  <a:srgbClr val="1B365D"/>
                </a:solidFill>
              </a:rPr>
              <a:t>• Không lãng phí tài nguyên: Mỗi nguồn dữ liệu đều giữ một vai trò không thể thay thế trong chuỗi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Quy chuẩn Gán nhãn Bounding Box &amp; Kiểm định Độ Đồng Thuận 2 Tầng</a:t>
            </a:r>
          </a:p>
          <a:p>
            <a:pPr>
              <a:spcBef>
                <a:spcPts val="200"/>
              </a:spcBef>
              <a:defRPr sz="1050">
                <a:solidFill>
                  <a:srgbClr val="5A6E7F"/>
                </a:solidFill>
                <a:latin typeface="Calibri"/>
              </a:defRPr>
            </a:pPr>
            <a:r>
              <a:t>Tài liệu hóa quy ước docs/label_guide.md v2.0 và quy trình kiểm định khoa học nghiêm ngặt</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6/8</a:t>
            </a:r>
          </a:p>
        </p:txBody>
      </p:sp>
      <p:sp>
        <p:nvSpPr>
          <p:cNvPr id="5" name="Rounded Rectangle 4"/>
          <p:cNvSpPr/>
          <p:nvPr/>
        </p:nvSpPr>
        <p:spPr>
          <a:xfrm>
            <a:off x="502920" y="1051560"/>
            <a:ext cx="2633472" cy="224028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143000"/>
            <a:ext cx="2414016" cy="2057400"/>
          </a:xfrm>
          <a:prstGeom prst="rect">
            <a:avLst/>
          </a:prstGeom>
          <a:noFill/>
        </p:spPr>
        <p:txBody>
          <a:bodyPr wrap="square">
            <a:spAutoFit/>
          </a:bodyPr>
          <a:lstStyle/>
          <a:p>
            <a:pPr>
              <a:defRPr sz="1200" b="1">
                <a:solidFill>
                  <a:srgbClr val="1B365D"/>
                </a:solidFill>
                <a:latin typeface="Calibri"/>
              </a:defRPr>
            </a:pPr>
            <a:r>
              <a:t>Quy ước Vẽ Bounding Box</a:t>
            </a:r>
          </a:p>
          <a:p>
            <a:pPr>
              <a:spcBef>
                <a:spcPts val="200"/>
              </a:spcBef>
              <a:defRPr sz="950" b="1">
                <a:solidFill>
                  <a:srgbClr val="1B8A5A"/>
                </a:solidFill>
                <a:latin typeface="Calibri"/>
              </a:defRPr>
            </a:pPr>
            <a:r>
              <a:t>Rác vs Dụng cụ Canteen</a:t>
            </a:r>
          </a:p>
          <a:p>
            <a:pPr>
              <a:spcBef>
                <a:spcPts val="300"/>
              </a:spcBef>
              <a:defRPr sz="880">
                <a:solidFill>
                  <a:srgbClr val="222831"/>
                </a:solidFill>
                <a:latin typeface="Calibri"/>
              </a:defRPr>
            </a:pPr>
            <a:r>
              <a:t>• Khay ăn, đĩa, bát, thìa inox: KHÔNG gán box (đây là tài sản trường học gom rửa).</a:t>
            </a:r>
            <a:br/>
            <a:r>
              <a:t>• Thức ăn thừa trong đĩa/bát: Vẽ 1 box bọc trọn vùng thức ăn thừa (gán Hữu cơ).</a:t>
            </a:r>
            <a:br/>
            <a:r>
              <a:t>• Hộp xốp / ly nhựa: Vẽ box bọc trọn hộp/ly kể cả có dính thức ăn bên trong.</a:t>
            </a:r>
            <a:br/>
            <a:r>
              <a:t>• Muỗng nhựa, ống hút, khăn giấy: Vẽ box riêng từng vật; cụm dính liền vẽ 1 box.</a:t>
            </a:r>
          </a:p>
        </p:txBody>
      </p:sp>
      <p:sp>
        <p:nvSpPr>
          <p:cNvPr id="7" name="Rounded Rectangle 6"/>
          <p:cNvSpPr/>
          <p:nvPr/>
        </p:nvSpPr>
        <p:spPr>
          <a:xfrm>
            <a:off x="3227832" y="1051560"/>
            <a:ext cx="2633472" cy="224028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0" y="1143000"/>
            <a:ext cx="2414016" cy="2057400"/>
          </a:xfrm>
          <a:prstGeom prst="rect">
            <a:avLst/>
          </a:prstGeom>
          <a:noFill/>
        </p:spPr>
        <p:txBody>
          <a:bodyPr wrap="square">
            <a:spAutoFit/>
          </a:bodyPr>
          <a:lstStyle/>
          <a:p>
            <a:pPr>
              <a:defRPr sz="1200" b="1">
                <a:solidFill>
                  <a:srgbClr val="1B365D"/>
                </a:solidFill>
                <a:latin typeface="Calibri"/>
              </a:defRPr>
            </a:pPr>
            <a:r>
              <a:t>Xử lý Che khuất &amp; Kích thước</a:t>
            </a:r>
          </a:p>
          <a:p>
            <a:pPr>
              <a:spcBef>
                <a:spcPts val="200"/>
              </a:spcBef>
              <a:defRPr sz="950" b="1">
                <a:solidFill>
                  <a:srgbClr val="1B8A5A"/>
                </a:solidFill>
                <a:latin typeface="Calibri"/>
              </a:defRPr>
            </a:pPr>
            <a:r>
              <a:t>Tightness &amp; Occlusion</a:t>
            </a:r>
          </a:p>
          <a:p>
            <a:pPr>
              <a:spcBef>
                <a:spcPts val="300"/>
              </a:spcBef>
              <a:defRPr sz="880">
                <a:solidFill>
                  <a:srgbClr val="222831"/>
                </a:solidFill>
                <a:latin typeface="Calibri"/>
              </a:defRPr>
            </a:pPr>
            <a:r>
              <a:t>• Ôm sát viền ngoài (tight box): Sai số viền &lt;= 5% kích thước vật thể.</a:t>
            </a:r>
            <a:br/>
            <a:r>
              <a:t>• Che khuất một phần (&lt; 80%): Vẽ box bọc vùng nhìn thấy được (visible box).</a:t>
            </a:r>
            <a:br/>
            <a:r>
              <a:t>• Che khuất nghiêm trọng (&gt;= 80%): Bỏ qua không gán box để tránh gây nhiễu.</a:t>
            </a:r>
            <a:br/>
            <a:r>
              <a:t>• Ngưỡng kích thước tối thiểu: Bỏ qua mẩu vụn li ti &lt; 16x16 px trên ảnh gốc.</a:t>
            </a:r>
          </a:p>
        </p:txBody>
      </p:sp>
      <p:sp>
        <p:nvSpPr>
          <p:cNvPr id="9" name="Rounded Rectangle 8"/>
          <p:cNvSpPr/>
          <p:nvPr/>
        </p:nvSpPr>
        <p:spPr>
          <a:xfrm>
            <a:off x="5952744" y="1051560"/>
            <a:ext cx="2633472" cy="2240280"/>
          </a:xfrm>
          <a:prstGeom prst="roundRect">
            <a:avLst/>
          </a:prstGeom>
          <a:solidFill>
            <a:srgbClr val="F0F4F8"/>
          </a:solidFill>
          <a:ln>
            <a:solidFill>
              <a:srgbClr val="D0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1143000"/>
            <a:ext cx="2414016" cy="2057400"/>
          </a:xfrm>
          <a:prstGeom prst="rect">
            <a:avLst/>
          </a:prstGeom>
          <a:noFill/>
        </p:spPr>
        <p:txBody>
          <a:bodyPr wrap="square">
            <a:spAutoFit/>
          </a:bodyPr>
          <a:lstStyle/>
          <a:p>
            <a:pPr>
              <a:defRPr sz="1200" b="1">
                <a:solidFill>
                  <a:srgbClr val="1B365D"/>
                </a:solidFill>
                <a:latin typeface="Calibri"/>
              </a:defRPr>
            </a:pPr>
            <a:r>
              <a:t>Kiểm định Độ đồng thuận 2 Tầng</a:t>
            </a:r>
          </a:p>
          <a:p>
            <a:pPr>
              <a:spcBef>
                <a:spcPts val="200"/>
              </a:spcBef>
              <a:defRPr sz="950" b="1">
                <a:solidFill>
                  <a:srgbClr val="1B8A5A"/>
                </a:solidFill>
                <a:latin typeface="Calibri"/>
              </a:defRPr>
            </a:pPr>
            <a:r>
              <a:t>Chỉ số Nghiệm thu bắt buộc</a:t>
            </a:r>
          </a:p>
          <a:p>
            <a:pPr>
              <a:spcBef>
                <a:spcPts val="300"/>
              </a:spcBef>
              <a:defRPr sz="880">
                <a:solidFill>
                  <a:srgbClr val="222831"/>
                </a:solidFill>
                <a:latin typeface="Calibri"/>
              </a:defRPr>
            </a:pPr>
            <a:r>
              <a:t>• Pilot 40 khay mẫu (&gt;= 100 boxes) do 2 người gán nhãn độc lập hoàn toàn:</a:t>
            </a:r>
            <a:br/>
            <a:r>
              <a:t>  1. Tầng 1 (Vị trí Box): Khớp box IoU &gt;= 0.5, yêu cầu Box F1 &gt;= 0.80.</a:t>
            </a:r>
            <a:br/>
            <a:r>
              <a:t>  2. Tầng 2 (Nhãn Phân loại): Trên các cặp box đã khớp, tính Cohen's kappa &gt;= 0.70.</a:t>
            </a:r>
            <a:br/>
            <a:r>
              <a:t>• Nếu không đạt: Bắt buộc dừng lại, họp đối chiếu ca sai và gán lại 40 khay mới.</a:t>
            </a:r>
          </a:p>
        </p:txBody>
      </p:sp>
      <p:sp>
        <p:nvSpPr>
          <p:cNvPr id="11" name="TextBox 10"/>
          <p:cNvSpPr txBox="1"/>
          <p:nvPr/>
        </p:nvSpPr>
        <p:spPr>
          <a:xfrm>
            <a:off x="502920" y="3429000"/>
            <a:ext cx="8092440" cy="1280160"/>
          </a:xfrm>
          <a:prstGeom prst="rect">
            <a:avLst/>
          </a:prstGeom>
          <a:noFill/>
        </p:spPr>
        <p:txBody>
          <a:bodyPr wrap="square">
            <a:spAutoFit/>
          </a:bodyPr>
          <a:lstStyle/>
          <a:p>
            <a:pPr>
              <a:spcBef>
                <a:spcPts val="300"/>
              </a:spcBef>
              <a:defRPr sz="1000">
                <a:solidFill>
                  <a:srgbClr val="222831"/>
                </a:solidFill>
                <a:latin typeface="Calibri"/>
              </a:defRPr>
            </a:pPr>
            <a:r>
              <a:rPr b="1">
                <a:solidFill>
                  <a:srgbClr val="1B365D"/>
                </a:solidFill>
              </a:rPr>
              <a:t>• Công cụ tự động hóa kiểm định: Đã xây dựng script scripts/calc_agreement_multiobject.py để tự động đo Box F1 và Cohen's Kappa chỉ trong 1 giây sau khi 2 người nộp nhãn.</a:t>
            </a:r>
          </a:p>
          <a:p>
            <a:pPr>
              <a:spcBef>
                <a:spcPts val="300"/>
              </a:spcBef>
              <a:defRPr sz="1000">
                <a:solidFill>
                  <a:srgbClr val="222831"/>
                </a:solidFill>
                <a:latin typeface="Calibri"/>
              </a:defRPr>
            </a:pPr>
            <a:r>
              <a:rPr b="1">
                <a:solidFill>
                  <a:srgbClr val="1B365D"/>
                </a:solidFill>
              </a:rPr>
              <a:t>• Quản lý ảnh mơ hồ (Ambiguous): Các trường hợp tranh cãi được đánh dấu ambiguous=True trong canteen_metadata.csv; dùng để báo cáo độ bền mô hình, không dùng để tune.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Thu thập Thực tế Canteen &amp; Giao thức Chống Rò rỉ Dữ liệu</a:t>
            </a:r>
          </a:p>
          <a:p>
            <a:pPr>
              <a:spcBef>
                <a:spcPts val="200"/>
              </a:spcBef>
              <a:defRPr sz="1050">
                <a:solidFill>
                  <a:srgbClr val="5A6E7F"/>
                </a:solidFill>
                <a:latin typeface="Calibri"/>
              </a:defRPr>
            </a:pPr>
            <a:r>
              <a:t>Phân cụm theo ngày/ca chụp (cluster_id) và công cụ Pre-labeling tự động tiết kiệm 70% thời gian</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7/8</a:t>
            </a:r>
          </a:p>
        </p:txBody>
      </p:sp>
      <p:sp>
        <p:nvSpPr>
          <p:cNvPr id="5" name="TextBox 4"/>
          <p:cNvSpPr txBox="1"/>
          <p:nvPr/>
        </p:nvSpPr>
        <p:spPr>
          <a:xfrm>
            <a:off x="502920" y="1051560"/>
            <a:ext cx="8092440" cy="3657600"/>
          </a:xfrm>
          <a:prstGeom prst="rect">
            <a:avLst/>
          </a:prstGeom>
          <a:noFill/>
        </p:spPr>
        <p:txBody>
          <a:bodyPr wrap="square">
            <a:spAutoFit/>
          </a:bodyPr>
          <a:lstStyle/>
          <a:p>
            <a:pPr>
              <a:spcBef>
                <a:spcPts val="400"/>
              </a:spcBef>
              <a:defRPr sz="1050">
                <a:solidFill>
                  <a:srgbClr val="222831"/>
                </a:solidFill>
                <a:latin typeface="Calibri"/>
              </a:defRPr>
            </a:pPr>
            <a:r>
              <a:rPr b="1">
                <a:solidFill>
                  <a:srgbClr val="1B365D"/>
                </a:solidFill>
              </a:rPr>
              <a:t>• Thiết lập Góc Chụp Thực tế (Acquisition Protocol): Chụp góc 45 - 90 độ (top-down) từ trên xuống, mô phỏng camera gắn cố định trên thùng rác thông minh. Chụp trong điều kiện ánh sáng tự nhiên và đèn huỳnh quang canteen. Đợt 1 thu thập 50-60 khay rác thật + 20-30 ảnh khay trống làm ảnh nền.</a:t>
            </a:r>
          </a:p>
          <a:p>
            <a:pPr>
              <a:spcBef>
                <a:spcPts val="400"/>
              </a:spcBef>
              <a:defRPr sz="1050">
                <a:solidFill>
                  <a:srgbClr val="222831"/>
                </a:solidFill>
                <a:latin typeface="Calibri"/>
              </a:defRPr>
            </a:pPr>
            <a:r>
              <a:rPr b="1">
                <a:solidFill>
                  <a:srgbClr val="1B365D"/>
                </a:solidFill>
              </a:rPr>
              <a:t>• Quy trình Gán Nhãn Bán Tự Động (Model-Assisted Pre-labeling): Nhóm không phải vẽ tay từng Bounding Box từ con số 0. Đã viết script auto_prelabel_canteen.py sử dụng mô hình TACO vừa huấn luyện để vẽ sẵn các khung BBox gợi ý -&gt; Hai người gán nhãn chỉ cần mở Roboflow/CVAT chỉnh nhẹ viền và chọn 1 trong 3 nhóm rác (tiết kiệm hơn 70% công sức).</a:t>
            </a:r>
          </a:p>
          <a:p>
            <a:pPr>
              <a:spcBef>
                <a:spcPts val="400"/>
              </a:spcBef>
              <a:defRPr sz="1050">
                <a:solidFill>
                  <a:srgbClr val="222831"/>
                </a:solidFill>
                <a:latin typeface="Calibri"/>
              </a:defRPr>
            </a:pPr>
            <a:r>
              <a:rPr b="1">
                <a:solidFill>
                  <a:srgbClr val="1B365D"/>
                </a:solidFill>
              </a:rPr>
              <a:t>• Kiểm soát Rò rỉ Bằng Phân Cụm (Cluster-based Splitting): Mỗi ảnh được gán mã cụm định danh: cluster_id = YYYYMMDD_Ca (Ví dụ: 20261015_trua). Đã có script split_canteen_by_cluster.py tự động phân chia theo cụm ngày/ca. Toàn bộ ảnh cùng buổi chụp BẮT BUỘC chỉ nằm trọn trong 1 tập duy nhất (Train, Val, hoặc Test).</a:t>
            </a:r>
          </a:p>
          <a:p>
            <a:pPr>
              <a:spcBef>
                <a:spcPts val="400"/>
              </a:spcBef>
              <a:defRPr sz="1050">
                <a:solidFill>
                  <a:srgbClr val="222831"/>
                </a:solidFill>
                <a:latin typeface="Calibri"/>
              </a:defRPr>
            </a:pPr>
            <a:r>
              <a:rPr b="1">
                <a:solidFill>
                  <a:srgbClr val="1B365D"/>
                </a:solidFill>
              </a:rPr>
              <a:t>• Tập Test Canteen Đóng Băng Tuyệt Đối: Tập Test Canteen gồm các ngày chụp hoàn toàn độc lập, tuyệt đối KHÔNG xuất hiện trong tập Train hay Val. Đóng băng cố định và chỉ dùng để chấm điểm cuối cùng; không dùng để tune siêu tham số.</a:t>
            </a:r>
          </a:p>
          <a:p>
            <a:pPr>
              <a:spcBef>
                <a:spcPts val="400"/>
              </a:spcBef>
              <a:defRPr sz="1050">
                <a:solidFill>
                  <a:srgbClr val="222831"/>
                </a:solidFill>
                <a:latin typeface="Calibri"/>
              </a:defRPr>
            </a:pPr>
            <a:r>
              <a:rPr b="1">
                <a:solidFill>
                  <a:srgbClr val="1B365D"/>
                </a:solidFill>
              </a:rPr>
              <a:t>• Quản lý Metadata Đầy đủ (canteen_metadata.csv): Lưu vết chi tiết: image_id, cluster_id, date, shift, device, total_boxes, organic_count, recyclable_count, other_count, ambiguous, annotator_1, annotator_2.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8046720" cy="685800"/>
          </a:xfrm>
          <a:prstGeom prst="rect">
            <a:avLst/>
          </a:prstGeom>
          <a:noFill/>
        </p:spPr>
        <p:txBody>
          <a:bodyPr wrap="square" lIns="0" tIns="0" rIns="0" bIns="0">
            <a:spAutoFit/>
          </a:bodyPr>
          <a:lstStyle/>
          <a:p>
            <a:pPr>
              <a:defRPr sz="1900" b="1">
                <a:solidFill>
                  <a:srgbClr val="1B365D"/>
                </a:solidFill>
                <a:latin typeface="Calibri"/>
              </a:defRPr>
            </a:pPr>
            <a:r>
              <a:t>Khung Đánh giá Khoa học, Quản trị Rủi ro &amp; Cột mốc Go/No-go</a:t>
            </a:r>
          </a:p>
          <a:p>
            <a:pPr>
              <a:spcBef>
                <a:spcPts val="200"/>
              </a:spcBef>
              <a:defRPr sz="1050">
                <a:solidFill>
                  <a:srgbClr val="5A6E7F"/>
                </a:solidFill>
                <a:latin typeface="Calibri"/>
              </a:defRPr>
            </a:pPr>
            <a:r>
              <a:t>Ba câu hỏi nghiên cứu, đo lường độ trễ trên phần cứng thật và điểm kiểm soát rủi ro Tuần 5</a:t>
            </a:r>
          </a:p>
        </p:txBody>
      </p:sp>
      <p:sp>
        <p:nvSpPr>
          <p:cNvPr id="4" name="TextBox 3"/>
          <p:cNvSpPr txBox="1"/>
          <p:nvPr/>
        </p:nvSpPr>
        <p:spPr>
          <a:xfrm>
            <a:off x="8321040" y="4754880"/>
            <a:ext cx="548640" cy="274320"/>
          </a:xfrm>
          <a:prstGeom prst="rect">
            <a:avLst/>
          </a:prstGeom>
          <a:noFill/>
        </p:spPr>
        <p:txBody>
          <a:bodyPr wrap="none" lIns="0" tIns="0" rIns="0" bIns="0">
            <a:spAutoFit/>
          </a:bodyPr>
          <a:lstStyle/>
          <a:p>
            <a:pPr>
              <a:defRPr sz="950">
                <a:solidFill>
                  <a:srgbClr val="5A6E7F"/>
                </a:solidFill>
                <a:latin typeface="Calibri"/>
              </a:defRPr>
            </a:pPr>
            <a:r>
              <a:t>8/8</a:t>
            </a:r>
          </a:p>
        </p:txBody>
      </p:sp>
      <p:sp>
        <p:nvSpPr>
          <p:cNvPr id="5" name="TextBox 4"/>
          <p:cNvSpPr txBox="1"/>
          <p:nvPr/>
        </p:nvSpPr>
        <p:spPr>
          <a:xfrm>
            <a:off x="502920" y="1051560"/>
            <a:ext cx="8092440" cy="3657600"/>
          </a:xfrm>
          <a:prstGeom prst="rect">
            <a:avLst/>
          </a:prstGeom>
          <a:noFill/>
        </p:spPr>
        <p:txBody>
          <a:bodyPr wrap="square">
            <a:spAutoFit/>
          </a:bodyPr>
          <a:lstStyle/>
          <a:p>
            <a:pPr>
              <a:spcBef>
                <a:spcPts val="350"/>
              </a:spcBef>
              <a:defRPr sz="1000">
                <a:solidFill>
                  <a:srgbClr val="222831"/>
                </a:solidFill>
                <a:latin typeface="Calibri"/>
              </a:defRPr>
            </a:pPr>
            <a:r>
              <a:rPr b="1">
                <a:solidFill>
                  <a:srgbClr val="1B365D"/>
                </a:solidFill>
              </a:rPr>
              <a:t>• Khung 3 Câu hỏi Nghiên cứu (RQ1 - RQ3): • RQ1: So sánh hiệu quả giữa các cơ chế KD (Logit KD, DKD, Attention Transfer) và chứng minh lợi thế của cơ chế Fine-to-Coarse.</a:t>
            </a:r>
            <a:br/>
            <a:r>
              <a:t>• RQ2: Đo lường độ sụt giảm Domain Shift và đường cong thích nghi ít mẫu k-shot ∈ {0, 5, 10, 20, 50} trên khay canteen thật.</a:t>
            </a:r>
            <a:br/>
            <a:r>
              <a:t>• RQ3 (Mới): Đánh giá phân rã lỗi E4 (Oracle BBox vs Detected BBox) và so sánh Pipeline 2-Stage vs Mô hình YOLO 3 lớp trực tiếp (D2).</a:t>
            </a:r>
          </a:p>
          <a:p>
            <a:pPr>
              <a:spcBef>
                <a:spcPts val="350"/>
              </a:spcBef>
              <a:defRPr sz="1000">
                <a:solidFill>
                  <a:srgbClr val="222831"/>
                </a:solidFill>
                <a:latin typeface="Calibri"/>
              </a:defRPr>
            </a:pPr>
            <a:r>
              <a:rPr b="1">
                <a:solidFill>
                  <a:srgbClr val="1B365D"/>
                </a:solidFill>
              </a:rPr>
              <a:t>• Đo lường Độ trễ Thực tế trên Thiết bị Biên (Edge Goal): Cả Detector D1 và KD Classifier đều được xuất sang ONNX và lượng tử hóa INT8 PTQ. Đo độ trễ end-to-end: T_pipeline = T_detector + N * T_classifier trên điện thoại/Raspberry Pi với N ∈ {1, 3, 6} vật rác/khay. Yêu cầu sụt giảm Macro-F1 sau INT8 &lt;= 2.0%.</a:t>
            </a:r>
          </a:p>
          <a:p>
            <a:pPr>
              <a:spcBef>
                <a:spcPts val="350"/>
              </a:spcBef>
              <a:defRPr sz="1000">
                <a:solidFill>
                  <a:srgbClr val="222831"/>
                </a:solidFill>
                <a:latin typeface="Calibri"/>
              </a:defRPr>
            </a:pPr>
            <a:r>
              <a:rPr b="1">
                <a:solidFill>
                  <a:srgbClr val="1B365D"/>
                </a:solidFill>
              </a:rPr>
              <a:t>• Ngân sách Tính toán đã được Kiểm chứng trên RTX 4050 Laptop: Đã đo pilot thực nghiệm: Detector D1 train đạt 38.45 giây/epoch (1 run 50 epoch chỉ mất 32 phút, VRAM 1.2 GB). Tổng ngân sách tính toán toàn bộ đề tài chỉ ~94-105 giờ GPU, hoàn toàn khả thi trên laptop của nhóm.</a:t>
            </a:r>
          </a:p>
          <a:p>
            <a:pPr>
              <a:spcBef>
                <a:spcPts val="350"/>
              </a:spcBef>
              <a:defRPr sz="1000">
                <a:solidFill>
                  <a:srgbClr val="222831"/>
                </a:solidFill>
                <a:latin typeface="Calibri"/>
              </a:defRPr>
            </a:pPr>
            <a:r>
              <a:rPr b="1">
                <a:solidFill>
                  <a:srgbClr val="1B365D"/>
                </a:solidFill>
              </a:rPr>
              <a:t>• Điểm Kiểm Soát Quyết Định (Go / No-go Milestone cuối Tuần 5): Nghiệm thu 3 điều kiện tiên quyết: (1) Test Canteen đóng băng &gt;= 150 khay đạt chuẩn Kappa; (2) &gt;= 1 seed Main runs Tier A hoàn tất; (3) Detector D1 đạt Recall@0.5 class-agnostic &gt;= 0.80 trên Val canteen. Nếu không đạt: Cắt giảm các nhánh mở rộng (M5, KD-det) để dồn lực hoàn thiện bài thi chính.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